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97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2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84.png"/><Relationship Id="rId3" Type="http://schemas.openxmlformats.org/officeDocument/2006/relationships/image" Target="../media/image4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36.png"/><Relationship Id="rId9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4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4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36.png"/><Relationship Id="rId9" Type="http://schemas.openxmlformats.org/officeDocument/2006/relationships/image" Target="../media/image10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8.png"/><Relationship Id="rId3" Type="http://schemas.openxmlformats.org/officeDocument/2006/relationships/image" Target="../media/image4.png"/><Relationship Id="rId7" Type="http://schemas.openxmlformats.org/officeDocument/2006/relationships/image" Target="../media/image113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6.png"/><Relationship Id="rId5" Type="http://schemas.openxmlformats.org/officeDocument/2006/relationships/image" Target="../media/image111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10.png"/><Relationship Id="rId9" Type="http://schemas.openxmlformats.org/officeDocument/2006/relationships/image" Target="../media/image95.png"/><Relationship Id="rId14" Type="http://schemas.openxmlformats.org/officeDocument/2006/relationships/image" Target="../media/image1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4.png"/><Relationship Id="rId21" Type="http://schemas.openxmlformats.org/officeDocument/2006/relationships/image" Target="../media/image149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4" Type="http://schemas.openxmlformats.org/officeDocument/2006/relationships/image" Target="../media/image126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41.png"/><Relationship Id="rId18" Type="http://schemas.openxmlformats.org/officeDocument/2006/relationships/image" Target="../media/image149.png"/><Relationship Id="rId3" Type="http://schemas.openxmlformats.org/officeDocument/2006/relationships/image" Target="../media/image4.png"/><Relationship Id="rId7" Type="http://schemas.openxmlformats.org/officeDocument/2006/relationships/image" Target="../media/image152.png"/><Relationship Id="rId12" Type="http://schemas.openxmlformats.org/officeDocument/2006/relationships/image" Target="../media/image140.pn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39.png"/><Relationship Id="rId5" Type="http://schemas.openxmlformats.org/officeDocument/2006/relationships/image" Target="../media/image150.png"/><Relationship Id="rId15" Type="http://schemas.openxmlformats.org/officeDocument/2006/relationships/image" Target="../media/image156.png"/><Relationship Id="rId10" Type="http://schemas.openxmlformats.org/officeDocument/2006/relationships/image" Target="../media/image138.png"/><Relationship Id="rId4" Type="http://schemas.openxmlformats.org/officeDocument/2006/relationships/image" Target="../media/image92.png"/><Relationship Id="rId9" Type="http://schemas.openxmlformats.org/officeDocument/2006/relationships/image" Target="../media/image154.png"/><Relationship Id="rId14" Type="http://schemas.openxmlformats.org/officeDocument/2006/relationships/image" Target="../media/image1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46.png"/><Relationship Id="rId18" Type="http://schemas.openxmlformats.org/officeDocument/2006/relationships/image" Target="../media/image167.png"/><Relationship Id="rId3" Type="http://schemas.openxmlformats.org/officeDocument/2006/relationships/image" Target="../media/image4.png"/><Relationship Id="rId21" Type="http://schemas.openxmlformats.org/officeDocument/2006/relationships/image" Target="../media/image149.png"/><Relationship Id="rId7" Type="http://schemas.openxmlformats.org/officeDocument/2006/relationships/image" Target="../media/image152.png"/><Relationship Id="rId12" Type="http://schemas.openxmlformats.org/officeDocument/2006/relationships/image" Target="../media/image164.png"/><Relationship Id="rId17" Type="http://schemas.openxmlformats.org/officeDocument/2006/relationships/image" Target="../media/image14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38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40.png"/><Relationship Id="rId5" Type="http://schemas.openxmlformats.org/officeDocument/2006/relationships/image" Target="../media/image160.png"/><Relationship Id="rId15" Type="http://schemas.openxmlformats.org/officeDocument/2006/relationships/image" Target="../media/image166.png"/><Relationship Id="rId10" Type="http://schemas.openxmlformats.org/officeDocument/2006/relationships/image" Target="../media/image163.png"/><Relationship Id="rId19" Type="http://schemas.openxmlformats.org/officeDocument/2006/relationships/image" Target="../media/image168.png"/><Relationship Id="rId4" Type="http://schemas.openxmlformats.org/officeDocument/2006/relationships/image" Target="../media/image159.png"/><Relationship Id="rId9" Type="http://schemas.openxmlformats.org/officeDocument/2006/relationships/image" Target="../media/image162.png"/><Relationship Id="rId1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.png"/><Relationship Id="rId7" Type="http://schemas.openxmlformats.org/officeDocument/2006/relationships/image" Target="../media/image172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30.png"/><Relationship Id="rId5" Type="http://schemas.openxmlformats.org/officeDocument/2006/relationships/image" Target="../media/image170.png"/><Relationship Id="rId10" Type="http://schemas.openxmlformats.org/officeDocument/2006/relationships/image" Target="../media/image128.png"/><Relationship Id="rId4" Type="http://schemas.openxmlformats.org/officeDocument/2006/relationships/image" Target="../media/image94.png"/><Relationship Id="rId9" Type="http://schemas.openxmlformats.org/officeDocument/2006/relationships/image" Target="../media/image9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4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10" Type="http://schemas.openxmlformats.org/officeDocument/2006/relationships/image" Target="../media/image179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.png"/><Relationship Id="rId7" Type="http://schemas.openxmlformats.org/officeDocument/2006/relationships/image" Target="../media/image182.png"/><Relationship Id="rId12" Type="http://schemas.openxmlformats.org/officeDocument/2006/relationships/image" Target="../media/image18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1" Type="http://schemas.openxmlformats.org/officeDocument/2006/relationships/image" Target="../media/image184.png"/><Relationship Id="rId5" Type="http://schemas.openxmlformats.org/officeDocument/2006/relationships/image" Target="../media/image180.png"/><Relationship Id="rId10" Type="http://schemas.openxmlformats.org/officeDocument/2006/relationships/image" Target="../media/image183.png"/><Relationship Id="rId4" Type="http://schemas.openxmlformats.org/officeDocument/2006/relationships/image" Target="../media/image36.png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3.png"/><Relationship Id="rId18" Type="http://schemas.openxmlformats.org/officeDocument/2006/relationships/image" Target="../media/image197.png"/><Relationship Id="rId3" Type="http://schemas.openxmlformats.org/officeDocument/2006/relationships/image" Target="../media/image4.png"/><Relationship Id="rId21" Type="http://schemas.openxmlformats.org/officeDocument/2006/relationships/image" Target="../media/image200.png"/><Relationship Id="rId7" Type="http://schemas.openxmlformats.org/officeDocument/2006/relationships/image" Target="../media/image189.png"/><Relationship Id="rId12" Type="http://schemas.openxmlformats.org/officeDocument/2006/relationships/image" Target="../media/image141.png"/><Relationship Id="rId17" Type="http://schemas.openxmlformats.org/officeDocument/2006/relationships/image" Target="../media/image196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2.png"/><Relationship Id="rId5" Type="http://schemas.openxmlformats.org/officeDocument/2006/relationships/image" Target="../media/image187.png"/><Relationship Id="rId15" Type="http://schemas.openxmlformats.org/officeDocument/2006/relationships/image" Target="../media/image144.png"/><Relationship Id="rId10" Type="http://schemas.openxmlformats.org/officeDocument/2006/relationships/image" Target="../media/image191.png"/><Relationship Id="rId19" Type="http://schemas.openxmlformats.org/officeDocument/2006/relationships/image" Target="../media/image198.png"/><Relationship Id="rId4" Type="http://schemas.openxmlformats.org/officeDocument/2006/relationships/image" Target="../media/image186.png"/><Relationship Id="rId9" Type="http://schemas.openxmlformats.org/officeDocument/2006/relationships/image" Target="../media/image138.png"/><Relationship Id="rId14" Type="http://schemas.openxmlformats.org/officeDocument/2006/relationships/image" Target="../media/image1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18" Type="http://schemas.openxmlformats.org/officeDocument/2006/relationships/image" Target="../media/image219.png"/><Relationship Id="rId3" Type="http://schemas.openxmlformats.org/officeDocument/2006/relationships/image" Target="../media/image4.png"/><Relationship Id="rId21" Type="http://schemas.openxmlformats.org/officeDocument/2006/relationships/image" Target="../media/image222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7.png"/><Relationship Id="rId20" Type="http://schemas.openxmlformats.org/officeDocument/2006/relationships/image" Target="../media/image2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10" Type="http://schemas.openxmlformats.org/officeDocument/2006/relationships/image" Target="../media/image211.png"/><Relationship Id="rId19" Type="http://schemas.openxmlformats.org/officeDocument/2006/relationships/image" Target="../media/image220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Relationship Id="rId22" Type="http://schemas.openxmlformats.org/officeDocument/2006/relationships/image" Target="../media/image2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3" Type="http://schemas.openxmlformats.org/officeDocument/2006/relationships/image" Target="../media/image4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5" Type="http://schemas.openxmlformats.org/officeDocument/2006/relationships/image" Target="../media/image224.png"/><Relationship Id="rId15" Type="http://schemas.openxmlformats.org/officeDocument/2006/relationships/image" Target="../media/image234.png"/><Relationship Id="rId10" Type="http://schemas.openxmlformats.org/officeDocument/2006/relationships/image" Target="../media/image229.png"/><Relationship Id="rId4" Type="http://schemas.openxmlformats.org/officeDocument/2006/relationships/image" Target="../media/image9.png"/><Relationship Id="rId9" Type="http://schemas.openxmlformats.org/officeDocument/2006/relationships/image" Target="../media/image228.png"/><Relationship Id="rId14" Type="http://schemas.openxmlformats.org/officeDocument/2006/relationships/image" Target="../media/image2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4.png"/><Relationship Id="rId7" Type="http://schemas.openxmlformats.org/officeDocument/2006/relationships/image" Target="../media/image2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Relationship Id="rId9" Type="http://schemas.openxmlformats.org/officeDocument/2006/relationships/image" Target="../media/image2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243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5143500"/>
            <a:ext cx="952805" cy="384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8572500" y="3810305"/>
            <a:ext cx="3619195" cy="30476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0001707" y="5238598"/>
            <a:ext cx="2190902" cy="16194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476402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국가데이터처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961949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Ministry of Data and Statistics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71500" y="2095805"/>
            <a:ext cx="38405" cy="3337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52551" y="2095805"/>
            <a:ext cx="108685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7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국가통계발전포럼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2667305"/>
            <a:ext cx="11049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시대,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1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통계가 인공지능과 대화하는 법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381805"/>
            <a:ext cx="88660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메타데이터 구축을 통한 진정한 AI 전환(AX)의 비전과 전략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5524805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2026. 5. 17.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5876849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</a:t>
            </a: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이선희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624809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국가데이터처</a:t>
            </a: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국가데이터관리본부 인공지능통계혁신과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3905402"/>
            <a:ext cx="5562295" cy="270479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86500" y="3905402"/>
            <a:ext cx="5372100" cy="270479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71500" y="237744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나눌 이야기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665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 통계의 위기와 해결책, 그리고 미래 비전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9905" y="1490015"/>
            <a:ext cx="514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</a:t>
            </a:r>
            <a:r>
              <a:rPr lang="en-US" b="1" kern="0" spc="-37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위기와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b="1" kern="0" spc="-37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1971446"/>
            <a:ext cx="51435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소비 패러다임의 변화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AI 인터페이스로의 접점 이동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챗봇의 환각 현상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가짜 통계 생성 문제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추론의 역설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정확성과 똑똑함의 균형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개방의 한계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맥락 없는 원시 데이터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SDMX 표준의 구조적 한계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24905" y="1490015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AI 친화적 메타데이터 핵심 개념 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476695" y="1971446"/>
            <a:ext cx="4953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온톨로지(Ontology)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개념 관계도 구축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GSIM(일반통계정보모델)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국제 공통 언어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자동 구축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LLM 활용 효율화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구축 4대 원칙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9905" y="4156406"/>
            <a:ext cx="514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4가지 혁신 활용 시나리오 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4638751"/>
            <a:ext cx="5143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1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LLM 챗봇 - 계절조정/원계열 혼란 해결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2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가짜뉴스 검증 - AI 실시간 팩트체크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3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 자기 설명 - 자율형 데이터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4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분석 지원 - 의미 기반 자동 매핑 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24905" y="4156406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4. TDO-</a:t>
            </a:r>
            <a:r>
              <a:rPr lang="en-US" b="1" kern="0" spc="-37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KR와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 로드맵 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6476695" y="4638751"/>
            <a:ext cx="4953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데이터 관측소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(TDO-KR) 구축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데이터 전체로 확산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계획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2026-2030+ 연차별 추진 로드맵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데이터망 연계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비전 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3695" y="1429207"/>
            <a:ext cx="228600" cy="228600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0858500" y="1429207"/>
            <a:ext cx="200254" cy="228600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333695" y="4095598"/>
            <a:ext cx="286207" cy="22860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0858500" y="4095598"/>
            <a:ext cx="2569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943600" cy="5372100"/>
          </a:xfrm>
          <a:prstGeom prst="roundRect">
            <a:avLst>
              <a:gd name="adj" fmla="val 72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67805" y="1238098"/>
            <a:ext cx="4990795" cy="5372100"/>
          </a:xfrm>
          <a:prstGeom prst="roundRect">
            <a:avLst>
              <a:gd name="adj" fmla="val 8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52805" y="1619402"/>
            <a:ext cx="1904695" cy="3047695"/>
          </a:xfrm>
          <a:prstGeom prst="roundRect">
            <a:avLst>
              <a:gd name="adj" fmla="val 3841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90695" y="1619402"/>
            <a:ext cx="1943100" cy="3086100"/>
          </a:xfrm>
          <a:prstGeom prst="roundRect">
            <a:avLst>
              <a:gd name="adj" fmla="val 3691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7707" y="4953304"/>
            <a:ext cx="5333695" cy="628191"/>
          </a:xfrm>
          <a:prstGeom prst="roundRect">
            <a:avLst>
              <a:gd name="adj" fmla="val 19193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3047695" y="3047695"/>
            <a:ext cx="761695" cy="384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15207" y="2952598"/>
            <a:ext cx="190195" cy="228600"/>
          </a:xfrm>
          <a:custGeom>
            <a:avLst/>
            <a:gdLst/>
            <a:ahLst/>
            <a:cxnLst/>
            <a:rect l="l" t="t" r="r" b="b"/>
            <a:pathLst>
              <a:path w="190195" h="228600">
                <a:moveTo>
                  <a:pt x="0" y="0"/>
                </a:moveTo>
                <a:lnTo>
                  <a:pt x="190195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1500" y="237744"/>
            <a:ext cx="11049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소비 패러다임의 변화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666598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과거의 공식 포털 접속에서 AI 인터페이스로의 '접점 이동'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809598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085746"/>
            <a:ext cx="1524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포털 접속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44" r="-44"/>
          <a:stretch/>
        </p:blipFill>
        <p:spPr>
          <a:xfrm>
            <a:off x="1647749" y="2391156"/>
            <a:ext cx="514807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047695"/>
            <a:ext cx="15243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통계청 포털 접속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원하는 표 검색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엑셀 다운로드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수동 분석 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381805" y="1809598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381805" y="2085746"/>
            <a:ext cx="1524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인터페이스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58207" y="2391156"/>
            <a:ext cx="5715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381805" y="3047695"/>
            <a:ext cx="15243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챗봇 질의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일상어로 질문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즉시 답변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자동 분석 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1366114" y="5138471"/>
            <a:ext cx="5677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국민이 통계를 만나는 </a:t>
            </a: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'첫 접점'</a:t>
            </a:r>
            <a:r>
              <a:rPr lang="en-US" sz="14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공식 </a:t>
            </a:r>
            <a:r>
              <a:rPr lang="en-US" sz="1400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포털에서</a:t>
            </a:r>
            <a:r>
              <a:rPr lang="en-US" sz="14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인터페이스</a:t>
            </a:r>
            <a:r>
              <a:rPr lang="en-US" sz="14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완전히 이동 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556" b="-556"/>
          <a:stretch/>
        </p:blipFill>
        <p:spPr>
          <a:xfrm>
            <a:off x="1106424" y="5104181"/>
            <a:ext cx="123444" cy="14264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9694" y="1429207"/>
            <a:ext cx="428030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소비 패러다임의 3단계 변화 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6858000" y="1943100"/>
            <a:ext cx="4572000" cy="1133856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/>
        </p:spPr>
      </p:sp>
      <p:sp>
        <p:nvSpPr>
          <p:cNvPr id="27" name="Shape 20"/>
          <p:cNvSpPr/>
          <p:nvPr/>
        </p:nvSpPr>
        <p:spPr>
          <a:xfrm>
            <a:off x="6858000" y="1943100"/>
            <a:ext cx="38405" cy="1133856"/>
          </a:xfrm>
          <a:prstGeom prst="roundRect">
            <a:avLst>
              <a:gd name="adj" fmla="val 32012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086600" y="2133295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정보 접근 방식의 변화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2428646"/>
            <a:ext cx="4153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포털 → 검색 → 다운로드 → 분석 (4단계)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챗봇 → 질문 → 즉시 답변 (3단계) 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858000" y="3311042"/>
            <a:ext cx="4572000" cy="1362456"/>
          </a:xfrm>
          <a:prstGeom prst="roundRect">
            <a:avLst>
              <a:gd name="adj" fmla="val 7509"/>
            </a:avLst>
          </a:prstGeom>
          <a:solidFill>
            <a:srgbClr val="F8FAFC"/>
          </a:solidFill>
          <a:ln/>
        </p:spPr>
      </p:sp>
      <p:sp>
        <p:nvSpPr>
          <p:cNvPr id="31" name="Shape 24"/>
          <p:cNvSpPr/>
          <p:nvPr/>
        </p:nvSpPr>
        <p:spPr>
          <a:xfrm>
            <a:off x="6858000" y="3311042"/>
            <a:ext cx="38405" cy="1362456"/>
          </a:xfrm>
          <a:prstGeom prst="roundRect">
            <a:avLst>
              <a:gd name="adj" fmla="val 26639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086600" y="3501238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사용자 경험의 혁신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086600" y="3796589"/>
            <a:ext cx="4153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일상어 질의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"요즘 경제 흐름 어때?"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이해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 의도 파악 및 관련 통계 추천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자동 차트/그래프 생성 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858000" y="4904842"/>
            <a:ext cx="4572000" cy="1362456"/>
          </a:xfrm>
          <a:prstGeom prst="roundRect">
            <a:avLst>
              <a:gd name="adj" fmla="val 7509"/>
            </a:avLst>
          </a:prstGeom>
          <a:solidFill>
            <a:srgbClr val="F8FAFC"/>
          </a:solidFill>
          <a:ln/>
        </p:spPr>
      </p:sp>
      <p:sp>
        <p:nvSpPr>
          <p:cNvPr id="35" name="Shape 28"/>
          <p:cNvSpPr/>
          <p:nvPr/>
        </p:nvSpPr>
        <p:spPr>
          <a:xfrm>
            <a:off x="6858000" y="4904842"/>
            <a:ext cx="38405" cy="1362456"/>
          </a:xfrm>
          <a:prstGeom prst="roundRect">
            <a:avLst>
              <a:gd name="adj" fmla="val 266399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086600" y="5095951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데이터 활용의 민주화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7086600" y="5391302"/>
            <a:ext cx="4153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 의존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일반인도 쉽게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문해력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요구 감소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접근 가능 </a:t>
            </a:r>
            <a:endParaRPr lang="en-US" sz="11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0" y="1481328"/>
            <a:ext cx="142646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943600" cy="5372100"/>
          </a:xfrm>
          <a:prstGeom prst="roundRect">
            <a:avLst>
              <a:gd name="adj" fmla="val 72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67805" y="1238098"/>
            <a:ext cx="4990795" cy="5372100"/>
          </a:xfrm>
          <a:prstGeom prst="roundRect">
            <a:avLst>
              <a:gd name="adj" fmla="val 8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43000" y="1904695"/>
            <a:ext cx="2133295" cy="800100"/>
          </a:xfrm>
          <a:prstGeom prst="roundRect">
            <a:avLst>
              <a:gd name="adj" fmla="val 40816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15114" y="2104949"/>
            <a:ext cx="104881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 통계는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</a:t>
            </a:r>
            <a:r>
              <a:rPr lang="en-US" sz="16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입니다" 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4198" y="2140609"/>
            <a:ext cx="385877" cy="38587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1" r="-21"/>
          <a:stretch/>
        </p:blipFill>
        <p:spPr>
          <a:xfrm rot="19800000">
            <a:off x="3238805" y="3333902"/>
            <a:ext cx="1256386" cy="74706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29" b="-29"/>
          <a:stretch/>
        </p:blipFill>
        <p:spPr>
          <a:xfrm rot="18600000">
            <a:off x="3143707" y="4286707"/>
            <a:ext cx="1008583" cy="119237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71500" y="237744"/>
            <a:ext cx="11049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경험을 통한 시사점</a:t>
            </a:r>
            <a:r>
              <a:rPr 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LLM 통계 챗봇과 환각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666598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통계 챗봇 도입 시도에서 발견한 환각(Hallucination) 문제와 공식 통계 기관의 신뢰성 위협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14" r="-14"/>
          <a:stretch/>
        </p:blipFill>
        <p:spPr>
          <a:xfrm>
            <a:off x="3262579" y="1904695"/>
            <a:ext cx="1666951" cy="133319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09751" y="3685946"/>
            <a:ext cx="342900" cy="3429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714500" y="3666744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블로그</a:t>
            </a:r>
            <a:endParaRPr lang="en-US" sz="1400" dirty="0"/>
          </a:p>
        </p:txBody>
      </p:sp>
      <p:sp>
        <p:nvSpPr>
          <p:cNvPr id="18" name="Text 10"/>
          <p:cNvSpPr txBox="1"/>
          <p:nvPr/>
        </p:nvSpPr>
        <p:spPr>
          <a:xfrm>
            <a:off x="1714500" y="3877056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부정확한 출처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09751" y="4638751"/>
            <a:ext cx="342900" cy="3429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714500" y="4619549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부정확한 기사</a:t>
            </a:r>
            <a:endParaRPr lang="en-US" sz="1400" dirty="0"/>
          </a:p>
        </p:txBody>
      </p:sp>
      <p:sp>
        <p:nvSpPr>
          <p:cNvPr id="21" name="Text 12"/>
          <p:cNvSpPr txBox="1"/>
          <p:nvPr/>
        </p:nvSpPr>
        <p:spPr>
          <a:xfrm>
            <a:off x="1714500" y="4828946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포함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l="-743" r="-743"/>
          <a:stretch/>
        </p:blipFill>
        <p:spPr>
          <a:xfrm>
            <a:off x="1228954" y="5591556"/>
            <a:ext cx="304495" cy="3429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714500" y="5572354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DB</a:t>
            </a:r>
            <a:endParaRPr lang="en-US" sz="1400" dirty="0"/>
          </a:p>
        </p:txBody>
      </p:sp>
      <p:sp>
        <p:nvSpPr>
          <p:cNvPr id="24" name="Text 14"/>
          <p:cNvSpPr txBox="1"/>
          <p:nvPr/>
        </p:nvSpPr>
        <p:spPr>
          <a:xfrm>
            <a:off x="1714500" y="57817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데이터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7197242" y="1429207"/>
            <a:ext cx="4232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문제의 심각성 </a:t>
            </a:r>
            <a:endParaRPr lang="en-US" dirty="0"/>
          </a:p>
        </p:txBody>
      </p:sp>
      <p:sp>
        <p:nvSpPr>
          <p:cNvPr id="26" name="Shape 16"/>
          <p:cNvSpPr/>
          <p:nvPr/>
        </p:nvSpPr>
        <p:spPr>
          <a:xfrm>
            <a:off x="6858000" y="1943100"/>
            <a:ext cx="4572000" cy="1133856"/>
          </a:xfrm>
          <a:prstGeom prst="roundRect">
            <a:avLst>
              <a:gd name="adj" fmla="val 10843"/>
            </a:avLst>
          </a:prstGeom>
          <a:solidFill>
            <a:srgbClr val="FEF2F2"/>
          </a:solidFill>
          <a:ln/>
        </p:spPr>
      </p:sp>
      <p:sp>
        <p:nvSpPr>
          <p:cNvPr id="27" name="Shape 17"/>
          <p:cNvSpPr/>
          <p:nvPr/>
        </p:nvSpPr>
        <p:spPr>
          <a:xfrm>
            <a:off x="6858000" y="1943100"/>
            <a:ext cx="38405" cy="1133856"/>
          </a:xfrm>
          <a:prstGeom prst="roundRect">
            <a:avLst>
              <a:gd name="adj" fmla="val 32012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7086600" y="2133295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공식 DB 대신 잘못된 출처 참조</a:t>
            </a:r>
            <a:endParaRPr lang="en-US" sz="1400" dirty="0"/>
          </a:p>
        </p:txBody>
      </p:sp>
      <p:sp>
        <p:nvSpPr>
          <p:cNvPr id="29" name="Text 19"/>
          <p:cNvSpPr txBox="1"/>
          <p:nvPr/>
        </p:nvSpPr>
        <p:spPr>
          <a:xfrm>
            <a:off x="7086600" y="2428646"/>
            <a:ext cx="4153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공식 DB의 정확한 수치 대신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블로그나 부정확한 기사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인용하여 가짜 통계를 만들어냄 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6858000" y="3311042"/>
            <a:ext cx="4572000" cy="1362456"/>
          </a:xfrm>
          <a:prstGeom prst="roundRect">
            <a:avLst>
              <a:gd name="adj" fmla="val 7509"/>
            </a:avLst>
          </a:prstGeom>
          <a:solidFill>
            <a:srgbClr val="FFF7ED"/>
          </a:solidFill>
          <a:ln/>
        </p:spPr>
      </p:sp>
      <p:sp>
        <p:nvSpPr>
          <p:cNvPr id="31" name="Shape 21"/>
          <p:cNvSpPr/>
          <p:nvPr/>
        </p:nvSpPr>
        <p:spPr>
          <a:xfrm>
            <a:off x="6858000" y="3311042"/>
            <a:ext cx="38405" cy="1362456"/>
          </a:xfrm>
          <a:prstGeom prst="roundRect">
            <a:avLst>
              <a:gd name="adj" fmla="val 266399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086600" y="3501238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환각 현상의 빈번한 발생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7086600" y="3796589"/>
            <a:ext cx="4153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 통계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AI가 존재하지 않는 수치 생성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인용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잘못된 출처에서 데이터 인용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왜곡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정확한 수치의 해석 오류 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6858000" y="4904842"/>
            <a:ext cx="4572000" cy="1133856"/>
          </a:xfrm>
          <a:prstGeom prst="roundRect">
            <a:avLst>
              <a:gd name="adj" fmla="val 10843"/>
            </a:avLst>
          </a:prstGeom>
          <a:solidFill>
            <a:srgbClr val="F0F9FF"/>
          </a:solidFill>
          <a:ln/>
        </p:spPr>
      </p:sp>
      <p:sp>
        <p:nvSpPr>
          <p:cNvPr id="35" name="Shape 25"/>
          <p:cNvSpPr/>
          <p:nvPr/>
        </p:nvSpPr>
        <p:spPr>
          <a:xfrm>
            <a:off x="6858000" y="4904842"/>
            <a:ext cx="38405" cy="1133856"/>
          </a:xfrm>
          <a:prstGeom prst="roundRect">
            <a:avLst>
              <a:gd name="adj" fmla="val 32012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086600" y="5095951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공식 통계 기관의 신뢰성 위협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7086600" y="5391302"/>
            <a:ext cx="4153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이는 공식 통계 기관의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신뢰성을 위협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치명적인 문제로, 정부 정책 결정에도 영향을 미칠 수 있음 </a:t>
            </a:r>
            <a:endParaRPr lang="en-US" sz="11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58000" y="1481328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15354"/>
            <a:ext cx="12191695" cy="1426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38805" y="1238098"/>
            <a:ext cx="5753405" cy="384779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" y="1238098"/>
            <a:ext cx="2514600" cy="3847795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0" y="1238098"/>
            <a:ext cx="2514600" cy="3847795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" y="5238598"/>
            <a:ext cx="11087100" cy="990295"/>
          </a:xfrm>
          <a:prstGeom prst="roundRect">
            <a:avLst>
              <a:gd name="adj" fmla="val 21308"/>
            </a:avLst>
          </a:prstGeom>
          <a:solidFill>
            <a:srgbClr val="F1F5F9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00500" y="2952598"/>
            <a:ext cx="1752905" cy="800100"/>
          </a:xfrm>
          <a:prstGeom prst="roundRect">
            <a:avLst>
              <a:gd name="adj" fmla="val 21769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6695" y="2952598"/>
            <a:ext cx="1752905" cy="800100"/>
          </a:xfrm>
          <a:prstGeom prst="roundRect">
            <a:avLst>
              <a:gd name="adj" fmla="val 21769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408" r="-408"/>
          <a:stretch/>
        </p:blipFill>
        <p:spPr>
          <a:xfrm>
            <a:off x="6077102" y="2857500"/>
            <a:ext cx="38405" cy="190469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44" r="-44"/>
          <a:stretch/>
        </p:blipFill>
        <p:spPr>
          <a:xfrm rot="21420000">
            <a:off x="4190695" y="3715207"/>
            <a:ext cx="3808476" cy="27523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982005" y="3638398"/>
            <a:ext cx="286207" cy="286207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추론의 역설 (The Reasoning Paradox)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똑똑함과 정확성 사이의 균형을 찾는 딜레마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048049" y="3047695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제한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873855" y="3369276"/>
            <a:ext cx="19677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함부로 </a:t>
            </a:r>
            <a:r>
              <a:rPr lang="en-US" sz="1050" dirty="0" err="1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추론하지</a:t>
            </a:r>
            <a:r>
              <a:rPr lang="en-US" sz="105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dirty="0" err="1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못하게</a:t>
            </a:r>
            <a:r>
              <a:rPr lang="en-US" sz="105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막음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524244" y="3047695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증가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524244" y="3286354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가짜 수치를 지어냄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524805" y="3905402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균형점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1076249" y="1429207"/>
            <a:ext cx="17812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추론 제한의 문제 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61695" y="1819656"/>
            <a:ext cx="2095805" cy="1095451"/>
          </a:xfrm>
          <a:prstGeom prst="roundRect">
            <a:avLst>
              <a:gd name="adj" fmla="val 1161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5995" y="1933956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안전한 AI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75995" y="2200046"/>
            <a:ext cx="1867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환각 현상 방지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정확한 데이터만 사용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신뢰성 확보 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61695" y="3051353"/>
            <a:ext cx="2095805" cy="1095451"/>
          </a:xfrm>
          <a:prstGeom prst="roundRect">
            <a:avLst>
              <a:gd name="adj" fmla="val 1161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75995" y="3165653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단점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75995" y="3432658"/>
            <a:ext cx="1867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똑똑함을 잃음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단순 검색기로 전락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추론 능력 제한 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1478585"/>
            <a:ext cx="171907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648749" y="1429207"/>
            <a:ext cx="17812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 증가의 문제 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9334195" y="1819656"/>
            <a:ext cx="2095805" cy="1095451"/>
          </a:xfrm>
          <a:prstGeom prst="roundRect">
            <a:avLst>
              <a:gd name="adj" fmla="val 11614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448495" y="1933956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똑똑한 AI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448495" y="2200046"/>
            <a:ext cx="1867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자유로운 추론 가능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창의적 분석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복잡한 문제 해결 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334195" y="3051353"/>
            <a:ext cx="2095805" cy="1095451"/>
          </a:xfrm>
          <a:prstGeom prst="roundRect">
            <a:avLst>
              <a:gd name="adj" fmla="val 1161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448495" y="3165653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단점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9448495" y="3432658"/>
            <a:ext cx="1867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가짜 수치 생성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신뢰성 저하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공식 통계 왜곡 </a:t>
            </a:r>
            <a:endParaRPr lang="en-US" sz="105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34195" y="1478585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57707" y="5477256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</a:t>
            </a:r>
            <a:r>
              <a:rPr lang="en-US" sz="15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친화적 메타데이터 구축을 통해 </a:t>
            </a: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똑똑하면서도 정확한 AI</a:t>
            </a:r>
            <a:r>
              <a:rPr lang="en-US" sz="15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만드는 것이 목표입니다. 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943600" cy="5333695"/>
          </a:xfrm>
          <a:prstGeom prst="roundRect">
            <a:avLst>
              <a:gd name="adj" fmla="val 653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635862" y="5777179"/>
            <a:ext cx="1143000" cy="38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73959" y="5719572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408883" y="5695798"/>
            <a:ext cx="2565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숫자 이면의 맥락을 읽지 못함 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510028" y="1543507"/>
            <a:ext cx="2074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 vs Context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8454" y="5733288"/>
            <a:ext cx="142646" cy="14264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62202" y="2076602"/>
            <a:ext cx="2286000" cy="32388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2104949" y="2514600"/>
            <a:ext cx="400507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817827" y="3238805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852242" y="3657600"/>
            <a:ext cx="20574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숫자만 존재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단위 정보 없음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분모 기준 불명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조사 대상 미표기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맥락 정보 부재 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638398" y="2076602"/>
            <a:ext cx="2286000" cy="3238805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52798" y="25146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55287" y="3238805"/>
            <a:ext cx="85679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328438" y="3657600"/>
            <a:ext cx="20574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단위/기준 명시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분모 정의 포함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조사 대상 표기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맥락 정보 완비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 이해 가능 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314700" y="3467405"/>
            <a:ext cx="457200" cy="45720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8FAFC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314700" y="346740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667805" y="1238098"/>
            <a:ext cx="4953305" cy="5333695"/>
          </a:xfrm>
          <a:prstGeom prst="roundRect">
            <a:avLst>
              <a:gd name="adj" fmla="val 85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7306056" y="1495044"/>
            <a:ext cx="419435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AI의 '맥락맹' (Context Blindness) 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1004" r="-1004"/>
          <a:stretch/>
        </p:blipFill>
        <p:spPr>
          <a:xfrm>
            <a:off x="6924751" y="1543507"/>
            <a:ext cx="267005" cy="20939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24751" y="2014423"/>
            <a:ext cx="4438498" cy="1266444"/>
          </a:xfrm>
          <a:prstGeom prst="roundRect">
            <a:avLst>
              <a:gd name="adj" fmla="val 8686"/>
            </a:avLst>
          </a:prstGeom>
          <a:solidFill>
            <a:srgbClr val="F8FAFC"/>
          </a:solidFill>
          <a:ln/>
        </p:spPr>
      </p:sp>
      <p:sp>
        <p:nvSpPr>
          <p:cNvPr id="26" name="Shape 18"/>
          <p:cNvSpPr/>
          <p:nvPr/>
        </p:nvSpPr>
        <p:spPr>
          <a:xfrm>
            <a:off x="6924751" y="2014423"/>
            <a:ext cx="47549" cy="1266444"/>
          </a:xfrm>
          <a:prstGeom prst="roundRect">
            <a:avLst>
              <a:gd name="adj" fmla="val 23134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402982" y="2185416"/>
            <a:ext cx="37901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문제: AI가 숫자의 의미를 읽지 못함 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7144207" y="2461565"/>
            <a:ext cx="40489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이면에 숨겨진 단위, 분모의 기준, 조사 대상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'맥락'을 읽지 못하는 일종의 '맥락맹'에 걸려 있습니다. 예를 들어 "실업률 5%"라는 숫자만으로는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15세 이상 기준인지, 15-64세 기준인지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 수 없습니다. 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924751" y="3487522"/>
            <a:ext cx="4438498" cy="1266444"/>
          </a:xfrm>
          <a:prstGeom prst="roundRect">
            <a:avLst>
              <a:gd name="adj" fmla="val 8686"/>
            </a:avLst>
          </a:prstGeom>
          <a:solidFill>
            <a:srgbClr val="F8FAFC"/>
          </a:solidFill>
          <a:ln/>
        </p:spPr>
      </p:sp>
      <p:sp>
        <p:nvSpPr>
          <p:cNvPr id="30" name="Shape 22"/>
          <p:cNvSpPr/>
          <p:nvPr/>
        </p:nvSpPr>
        <p:spPr>
          <a:xfrm>
            <a:off x="6924751" y="3487522"/>
            <a:ext cx="47549" cy="1266444"/>
          </a:xfrm>
          <a:prstGeom prst="roundRect">
            <a:avLst>
              <a:gd name="adj" fmla="val 23134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402982" y="3658514"/>
            <a:ext cx="37901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원인: API 개방의 한계 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144207" y="3934663"/>
            <a:ext cx="40489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 데이터만 제공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숫자만 있는 API는 AI에게 의미 없음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부재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변수의 의미와 관계가 명시되지 않음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불가능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서로 다른 기준의 데이터를 구분 못함 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924751" y="4960620"/>
            <a:ext cx="4438498" cy="1266444"/>
          </a:xfrm>
          <a:prstGeom prst="roundRect">
            <a:avLst>
              <a:gd name="adj" fmla="val 8686"/>
            </a:avLst>
          </a:prstGeom>
          <a:solidFill>
            <a:srgbClr val="F8FAFC"/>
          </a:solidFill>
          <a:ln/>
        </p:spPr>
      </p:sp>
      <p:sp>
        <p:nvSpPr>
          <p:cNvPr id="34" name="Shape 26"/>
          <p:cNvSpPr/>
          <p:nvPr/>
        </p:nvSpPr>
        <p:spPr>
          <a:xfrm>
            <a:off x="6924751" y="4960620"/>
            <a:ext cx="47549" cy="1266444"/>
          </a:xfrm>
          <a:prstGeom prst="roundRect">
            <a:avLst>
              <a:gd name="adj" fmla="val 23134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402982" y="5131613"/>
            <a:ext cx="37901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해결책: AI 친화적 메타데이터 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144207" y="5407762"/>
            <a:ext cx="40489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의미의 지도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구축하여 AI가 숫자의 맥락을 이해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개념 관계를 명시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GSIM 표준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통계 생산부터 서비스까지 일관성 확보 </a:t>
            </a:r>
            <a:endParaRPr lang="en-US" sz="10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44207" y="2222906"/>
            <a:ext cx="142646" cy="142646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144207" y="3696005"/>
            <a:ext cx="142646" cy="142646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44207" y="5169103"/>
            <a:ext cx="142646" cy="14264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71500" y="237744"/>
            <a:ext cx="11049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개방의 한계와 AI의 '맥락맹'</a:t>
            </a:r>
            <a:endParaRPr lang="en-US" sz="2100" dirty="0"/>
          </a:p>
        </p:txBody>
      </p:sp>
      <p:sp>
        <p:nvSpPr>
          <p:cNvPr id="41" name="Text 30"/>
          <p:cNvSpPr txBox="1"/>
          <p:nvPr/>
        </p:nvSpPr>
        <p:spPr>
          <a:xfrm>
            <a:off x="571500" y="666598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37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숫자뿐인 원시 데이터(Raw Data)만으로는 부족한 이유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4800600"/>
          </a:xfrm>
          <a:prstGeom prst="roundRect">
            <a:avLst>
              <a:gd name="adj" fmla="val 90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4800600"/>
          </a:xfrm>
          <a:prstGeom prst="roundRect">
            <a:avLst>
              <a:gd name="adj" fmla="val 90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6143854"/>
            <a:ext cx="11087100" cy="562356"/>
          </a:xfrm>
          <a:prstGeom prst="roundRect">
            <a:avLst>
              <a:gd name="adj" fmla="val 44095"/>
            </a:avLst>
          </a:prstGeom>
          <a:solidFill>
            <a:srgbClr val="F1F5F9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805" y="1904695"/>
            <a:ext cx="4800600" cy="1181405"/>
          </a:xfrm>
          <a:prstGeom prst="roundRect">
            <a:avLst>
              <a:gd name="adj" fmla="val 9987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805" y="1904695"/>
            <a:ext cx="4610405" cy="1181405"/>
          </a:xfrm>
          <a:prstGeom prst="roundRect">
            <a:avLst>
              <a:gd name="adj" fmla="val 998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통계 표준(SDMX)의 구조적 한계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중심 교환 vs AI가 요구하는 변수 단위 의미 해석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6366" y="1429207"/>
            <a:ext cx="48088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SDMX의 강점 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481328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1971446"/>
            <a:ext cx="4381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데이터셋 중심 구조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324405"/>
            <a:ext cx="4381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데이터 교환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XML/JSON 형식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메타데이터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DSD, 코드 리스트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기관 협력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BIS, ECB, IMF, OECD 등 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61695" y="3238805"/>
            <a:ext cx="5143500" cy="819302"/>
          </a:xfrm>
          <a:prstGeom prst="roundRect">
            <a:avLst>
              <a:gd name="adj" fmla="val 20764"/>
            </a:avLst>
          </a:prstGeom>
          <a:solidFill>
            <a:srgbClr val="F8FAFC"/>
          </a:solidFill>
          <a:ln/>
        </p:spPr>
      </p:sp>
      <p:sp>
        <p:nvSpPr>
          <p:cNvPr id="18" name="Shape 14"/>
          <p:cNvSpPr/>
          <p:nvPr/>
        </p:nvSpPr>
        <p:spPr>
          <a:xfrm>
            <a:off x="761695" y="3238805"/>
            <a:ext cx="38405" cy="819302"/>
          </a:xfrm>
          <a:prstGeom prst="roundRect">
            <a:avLst>
              <a:gd name="adj" fmla="val 442966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4400" y="3353105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데이터셋 단위 교환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913942" y="3632912"/>
            <a:ext cx="4877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데이터셋을 효율적으로 교환하는 데 최적화되어 있으며, </a:t>
            </a:r>
            <a:b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9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기관 간의 데이터 공유를 표준화했습니다.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61695" y="4168750"/>
            <a:ext cx="5143500" cy="819302"/>
          </a:xfrm>
          <a:prstGeom prst="roundRect">
            <a:avLst>
              <a:gd name="adj" fmla="val 20764"/>
            </a:avLst>
          </a:prstGeom>
          <a:solidFill>
            <a:srgbClr val="F8FAFC"/>
          </a:solidFill>
          <a:ln/>
        </p:spPr>
      </p:sp>
      <p:sp>
        <p:nvSpPr>
          <p:cNvPr id="22" name="Shape 18"/>
          <p:cNvSpPr/>
          <p:nvPr/>
        </p:nvSpPr>
        <p:spPr>
          <a:xfrm>
            <a:off x="761695" y="4168750"/>
            <a:ext cx="38405" cy="819302"/>
          </a:xfrm>
          <a:prstGeom prst="roundRect">
            <a:avLst>
              <a:gd name="adj" fmla="val 442966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4400" y="4283050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구조적 정합성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4511650"/>
            <a:ext cx="4877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 정의(DSD), 코드 리스트, 개념 체계를 명확히 정의하여 데이터 일관성을 확보합니다.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61695" y="5099609"/>
            <a:ext cx="5143500" cy="638251"/>
          </a:xfrm>
          <a:prstGeom prst="roundRect">
            <a:avLst>
              <a:gd name="adj" fmla="val 34213"/>
            </a:avLst>
          </a:prstGeom>
          <a:solidFill>
            <a:srgbClr val="F8FAFC"/>
          </a:solidFill>
          <a:ln/>
        </p:spPr>
      </p:sp>
      <p:sp>
        <p:nvSpPr>
          <p:cNvPr id="26" name="Shape 22"/>
          <p:cNvSpPr/>
          <p:nvPr/>
        </p:nvSpPr>
        <p:spPr>
          <a:xfrm>
            <a:off x="761695" y="5099609"/>
            <a:ext cx="38405" cy="638251"/>
          </a:xfrm>
          <a:prstGeom prst="roundRect">
            <a:avLst>
              <a:gd name="adj" fmla="val 56858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14400" y="5213909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광범위한 채택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14400" y="5442509"/>
            <a:ext cx="543610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통계 기관에서 널리 사용되며, 국제 통계 교환의 사실상 표준으로 자리잡았습니다.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6811366" y="1429207"/>
            <a:ext cx="46186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kern="0" spc="-37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관점의 한계 </a:t>
            </a:r>
            <a:endParaRPr lang="en-US" sz="15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6695" y="1481328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58000" y="1953158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변수 단위 의미 부재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858000" y="2324405"/>
            <a:ext cx="4191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단위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포장되어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변수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의미 파악 불가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AI가 상자 안의 내용을 꺼내어 읽고 비교/추론하기 어려움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정보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부족하여 정확한 해석 불가 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76695" y="3238805"/>
            <a:ext cx="4953305" cy="819302"/>
          </a:xfrm>
          <a:prstGeom prst="roundRect">
            <a:avLst>
              <a:gd name="adj" fmla="val 20764"/>
            </a:avLst>
          </a:prstGeom>
          <a:solidFill>
            <a:srgbClr val="FEF2F2"/>
          </a:solidFill>
          <a:ln/>
        </p:spPr>
      </p:sp>
      <p:sp>
        <p:nvSpPr>
          <p:cNvPr id="34" name="Shape 29"/>
          <p:cNvSpPr/>
          <p:nvPr/>
        </p:nvSpPr>
        <p:spPr>
          <a:xfrm>
            <a:off x="6476695" y="3238805"/>
            <a:ext cx="38405" cy="819302"/>
          </a:xfrm>
          <a:prstGeom prst="roundRect">
            <a:avLst>
              <a:gd name="adj" fmla="val 44296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629400" y="3353105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구조적 한계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629400" y="3581705"/>
            <a:ext cx="4686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'데이터셋'이라는 큰 상자 단위로 포장하여, AI가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변수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들의 의미를 꺼내어 읽기 어려움 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476695" y="4168750"/>
            <a:ext cx="4953305" cy="638251"/>
          </a:xfrm>
          <a:prstGeom prst="roundRect">
            <a:avLst>
              <a:gd name="adj" fmla="val 34213"/>
            </a:avLst>
          </a:prstGeom>
          <a:solidFill>
            <a:srgbClr val="FEF2F2"/>
          </a:solidFill>
          <a:ln/>
        </p:spPr>
      </p:sp>
      <p:sp>
        <p:nvSpPr>
          <p:cNvPr id="38" name="Shape 33"/>
          <p:cNvSpPr/>
          <p:nvPr/>
        </p:nvSpPr>
        <p:spPr>
          <a:xfrm>
            <a:off x="6476695" y="4168750"/>
            <a:ext cx="38405" cy="638251"/>
          </a:xfrm>
          <a:prstGeom prst="roundRect">
            <a:avLst>
              <a:gd name="adj" fmla="val 56858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629400" y="4283050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의미 해석 불가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6629400" y="4511650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가능성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판단하기 위한 분모 정의, 조사 대상 등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정보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부족 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476695" y="4920386"/>
            <a:ext cx="4953305" cy="638251"/>
          </a:xfrm>
          <a:prstGeom prst="roundRect">
            <a:avLst>
              <a:gd name="adj" fmla="val 34213"/>
            </a:avLst>
          </a:prstGeom>
          <a:solidFill>
            <a:srgbClr val="FEF2F2"/>
          </a:solidFill>
          <a:ln/>
        </p:spPr>
      </p:sp>
      <p:sp>
        <p:nvSpPr>
          <p:cNvPr id="42" name="Shape 37"/>
          <p:cNvSpPr/>
          <p:nvPr/>
        </p:nvSpPr>
        <p:spPr>
          <a:xfrm>
            <a:off x="6476695" y="4920386"/>
            <a:ext cx="38405" cy="638251"/>
          </a:xfrm>
          <a:prstGeom prst="roundRect">
            <a:avLst>
              <a:gd name="adj" fmla="val 56858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629400" y="5034686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자동 추론 불가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6629400" y="5263286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간 관계를 판단하고 변환하는 </a:t>
            </a: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능력</a:t>
            </a: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부족 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1885493" y="6286500"/>
            <a:ext cx="10084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인사이트:</a:t>
            </a:r>
            <a:r>
              <a:rPr lang="en-US" sz="12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SDMX는 데이터 교환의 효율성을 높였지만, AI가 개별 변수의 의미를 이해하고 추론하기에는 </a:t>
            </a: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구조적인 한계</a:t>
            </a:r>
            <a:r>
              <a:rPr lang="en-US" sz="12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존재합니다. </a:t>
            </a:r>
            <a:endParaRPr lang="en-US" sz="12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676095" y="6334049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15354"/>
            <a:ext cx="12191695" cy="1426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972007" cy="4019702"/>
          </a:xfrm>
          <a:prstGeom prst="roundRect">
            <a:avLst>
              <a:gd name="adj" fmla="val 147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68305" y="1238098"/>
            <a:ext cx="972007" cy="4019702"/>
          </a:xfrm>
          <a:prstGeom prst="roundRect">
            <a:avLst>
              <a:gd name="adj" fmla="val 14757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14500" y="1238098"/>
            <a:ext cx="8801100" cy="4038905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" y="5429707"/>
            <a:ext cx="11087100" cy="990295"/>
          </a:xfrm>
          <a:prstGeom prst="roundRect">
            <a:avLst>
              <a:gd name="adj" fmla="val 21308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6" r="-46"/>
          <a:stretch/>
        </p:blipFill>
        <p:spPr>
          <a:xfrm rot="1080000">
            <a:off x="4551984" y="2743657"/>
            <a:ext cx="1228954" cy="41513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6" r="-46"/>
          <a:stretch/>
        </p:blipFill>
        <p:spPr>
          <a:xfrm rot="20520000">
            <a:off x="6424676" y="2743657"/>
            <a:ext cx="1228954" cy="41513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46" r="-46"/>
          <a:stretch/>
        </p:blipFill>
        <p:spPr>
          <a:xfrm rot="20520000">
            <a:off x="4540910" y="3802075"/>
            <a:ext cx="1228954" cy="41513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46" r="-46"/>
          <a:stretch/>
        </p:blipFill>
        <p:spPr>
          <a:xfrm rot="1080000">
            <a:off x="6413602" y="3802075"/>
            <a:ext cx="1228954" cy="41513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821379" y="2163927"/>
            <a:ext cx="800100" cy="80010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7630769" y="2163927"/>
            <a:ext cx="800100" cy="80010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810305" y="3619195"/>
            <a:ext cx="800100" cy="80010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7619695" y="3619195"/>
            <a:ext cx="800100" cy="80010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21172" y="3116732"/>
            <a:ext cx="629107" cy="6291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통계 메타데이터의 탄생</a:t>
            </a:r>
            <a:endParaRPr lang="en-US" sz="24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이면에 담긴 의미를 기계가 스스로 읽고 이해할 수 있는 '의미의 지도'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630976" y="3735781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데이터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3726281" y="2973171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7535672" y="2973171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3715207" y="4429354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7524598" y="4429354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839520" y="1878634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677672" y="2343150"/>
            <a:ext cx="7626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데이터셋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파일 단위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수동 검색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제한된 의미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개별 접근 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677672" y="1914296"/>
            <a:ext cx="114300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955528" y="1878634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10811966" y="2343150"/>
            <a:ext cx="7626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의미망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변수 단위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자동 연결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맥락 이해</a:t>
            </a:r>
            <a:endParaRPr lang="en-US" sz="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지능형 검색 </a:t>
            </a:r>
            <a:endParaRPr lang="en-US" sz="9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774476" y="1914296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124712" y="5667451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의미의 지도 (Meaning Map) 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857707" y="5943600"/>
            <a:ext cx="7620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이면에 담긴 의미, 비교 가능성, 변환 규칙을 기계가 스스로 읽고 이해하도록 명시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8663026" y="5729630"/>
            <a:ext cx="800100" cy="333756"/>
          </a:xfrm>
          <a:prstGeom prst="roundRect">
            <a:avLst>
              <a:gd name="adj" fmla="val 27397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8815730" y="5805526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연결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9601200" y="5729630"/>
            <a:ext cx="800100" cy="333756"/>
          </a:xfrm>
          <a:prstGeom prst="roundRect">
            <a:avLst>
              <a:gd name="adj" fmla="val 273973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9753905" y="5805526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가능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10539374" y="5729630"/>
            <a:ext cx="800100" cy="333756"/>
          </a:xfrm>
          <a:prstGeom prst="roundRect">
            <a:avLst>
              <a:gd name="adj" fmla="val 273973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0692079" y="5805526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규칙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857707" y="5715000"/>
            <a:ext cx="171907" cy="152705"/>
          </a:xfrm>
          <a:prstGeom prst="rect">
            <a:avLst/>
          </a:prstGeom>
        </p:spPr>
      </p:pic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DA23F0A0-2943-47BD-B851-C30E80C5810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1452" b="7864"/>
          <a:stretch/>
        </p:blipFill>
        <p:spPr>
          <a:xfrm>
            <a:off x="1829714" y="1263672"/>
            <a:ext cx="8457524" cy="4013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15354"/>
            <a:ext cx="12191695" cy="1426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38805" y="1238098"/>
            <a:ext cx="5753405" cy="4229100"/>
          </a:xfrm>
          <a:prstGeom prst="roundRect">
            <a:avLst>
              <a:gd name="adj" fmla="val 11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" y="1238098"/>
            <a:ext cx="2514600" cy="42291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0" y="1238098"/>
            <a:ext cx="2514600" cy="42291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11" b="-411"/>
          <a:stretch/>
        </p:blipFill>
        <p:spPr>
          <a:xfrm>
            <a:off x="4381805" y="2333549"/>
            <a:ext cx="666598" cy="1920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11" b="-411"/>
          <a:stretch/>
        </p:blipFill>
        <p:spPr>
          <a:xfrm>
            <a:off x="4474480" y="2719384"/>
            <a:ext cx="666598" cy="1920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416" b="-416"/>
          <a:stretch/>
        </p:blipFill>
        <p:spPr>
          <a:xfrm>
            <a:off x="7144207" y="2333549"/>
            <a:ext cx="714146" cy="1920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16" b="-416"/>
          <a:stretch/>
        </p:blipFill>
        <p:spPr>
          <a:xfrm>
            <a:off x="6961994" y="2737068"/>
            <a:ext cx="714146" cy="192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429000" y="3905402"/>
            <a:ext cx="5352898" cy="1352398"/>
          </a:xfrm>
          <a:prstGeom prst="roundRect">
            <a:avLst>
              <a:gd name="adj" fmla="val 7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3599845" y="1789938"/>
            <a:ext cx="1112691" cy="743407"/>
          </a:xfrm>
          <a:prstGeom prst="roundRect">
            <a:avLst>
              <a:gd name="adj" fmla="val 25231"/>
            </a:avLst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551282" y="2609698"/>
            <a:ext cx="1192625" cy="743407"/>
          </a:xfrm>
          <a:prstGeom prst="roundRect">
            <a:avLst>
              <a:gd name="adj" fmla="val 25231"/>
            </a:avLst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7594226" y="1826514"/>
            <a:ext cx="1399947" cy="743407"/>
          </a:xfrm>
          <a:prstGeom prst="roundRect">
            <a:avLst>
              <a:gd name="adj" fmla="val 25231"/>
            </a:avLst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7628592" y="2657551"/>
            <a:ext cx="1324051" cy="743407"/>
          </a:xfrm>
          <a:prstGeom prst="roundRect">
            <a:avLst>
              <a:gd name="adj" fmla="val 25231"/>
            </a:avLst>
          </a:prstGeom>
          <a:solidFill>
            <a:srgbClr val="F8FAF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048402" y="2095805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1: 온톨로지(Ontology)란?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개념들의 관계도: '청년실업률'의 의미를 거미줄처럼 엮어서 이해하는 구조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095951" y="2190902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청년실업률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095951" y="2467051"/>
            <a:ext cx="2000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Youth Unemployment Rate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3598634" y="1904238"/>
            <a:ext cx="10279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청년(계층)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3598634" y="2123694"/>
            <a:ext cx="10279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15~29세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556159" y="2723998"/>
            <a:ext cx="1101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실업(상태)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3556159" y="2942539"/>
            <a:ext cx="110179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일하지 않음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641774" y="1940814"/>
            <a:ext cx="1293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경제활동인구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7641774" y="2160270"/>
            <a:ext cx="1293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분모(기준)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7676140" y="2771851"/>
            <a:ext cx="1223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청년경제활동인구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7676140" y="2990392"/>
            <a:ext cx="1223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15~29세 경제활동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3885286" y="4048049"/>
            <a:ext cx="4687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온톨로지(개념 관계도) 구성 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3619195" y="4417467"/>
            <a:ext cx="4953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계층, </a:t>
            </a:r>
            <a:r>
              <a:rPr lang="en-US" sz="105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실업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상태, </a:t>
            </a:r>
            <a:r>
              <a:rPr lang="en-US" sz="105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경제활동인구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라는 </a:t>
            </a:r>
            <a:r>
              <a:rPr lang="en-US" sz="105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분모가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050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거미줄처럼</a:t>
            </a:r>
            <a:r>
              <a:rPr lang="en-US" sz="105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연결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 의미를 완성합니다. </a:t>
            </a:r>
            <a:endParaRPr lang="en-US" sz="10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3619195" y="4083710"/>
            <a:ext cx="152705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95451" y="1429207"/>
            <a:ext cx="17620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온톨로지란? 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761695" y="1819656"/>
            <a:ext cx="2095805" cy="1430122"/>
          </a:xfrm>
          <a:prstGeom prst="roundRect">
            <a:avLst>
              <a:gd name="adj" fmla="val 1161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75995" y="1933956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정의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875995" y="2321068"/>
            <a:ext cx="18672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개념들의 관계도.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단어를 이해하도록 개념 간의 연결을 명시적으로 정의한 구조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761695" y="1478585"/>
            <a:ext cx="190195" cy="17190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648749" y="1429207"/>
            <a:ext cx="17812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추론 과정 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9334195" y="1819656"/>
            <a:ext cx="2095805" cy="1779422"/>
          </a:xfrm>
          <a:prstGeom prst="roundRect">
            <a:avLst>
              <a:gd name="adj" fmla="val 8303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9448495" y="1933956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온톨로지 적용 후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9448495" y="2352751"/>
            <a:ext cx="18672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청년=15~29세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실업=일하지 않음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분모=경제활동인구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완벽한 의미 추론 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9334195" y="3774372"/>
            <a:ext cx="2095805" cy="1178289"/>
          </a:xfrm>
          <a:prstGeom prst="roundRect">
            <a:avLst>
              <a:gd name="adj" fmla="val 1738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9448495" y="3888672"/>
            <a:ext cx="1867205" cy="25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핵심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9448495" y="4155677"/>
            <a:ext cx="1867205" cy="52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개념 관계도를 통해 AI가 스스로 의미를 추론</a:t>
            </a:r>
            <a:endParaRPr lang="en-US" sz="10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34195" y="1478585"/>
            <a:ext cx="171907" cy="171907"/>
          </a:xfrm>
          <a:prstGeom prst="rect">
            <a:avLst/>
          </a:prstGeom>
        </p:spPr>
      </p:pic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48DE6061-96F1-4510-8F7E-AB8FA533300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7166" t="11535" r="5367" b="7000"/>
          <a:stretch/>
        </p:blipFill>
        <p:spPr>
          <a:xfrm>
            <a:off x="3346602" y="1186185"/>
            <a:ext cx="8334147" cy="5110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2704795" cy="53721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29000" y="1238098"/>
            <a:ext cx="82296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305" y="4953305"/>
            <a:ext cx="7848295" cy="847649"/>
          </a:xfrm>
          <a:prstGeom prst="roundRect">
            <a:avLst>
              <a:gd name="adj" fmla="val 19393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0305" y="1904695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0098" y="1904695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0805" y="1904695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10598" y="1904695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10305" y="3333902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10098" y="3333902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0805" y="3333902"/>
            <a:ext cx="1505102" cy="1218895"/>
          </a:xfrm>
          <a:prstGeom prst="roundRect">
            <a:avLst>
              <a:gd name="adj" fmla="val 9377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5286146" y="2428646"/>
            <a:ext cx="381305" cy="384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19902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7286854" y="2428646"/>
            <a:ext cx="381305" cy="384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619695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9286646" y="2428646"/>
            <a:ext cx="381305" cy="384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620402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F59E0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360" b="-360"/>
          <a:stretch/>
        </p:blipFill>
        <p:spPr>
          <a:xfrm>
            <a:off x="5286146" y="3857854"/>
            <a:ext cx="381305" cy="384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619902" y="3810305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8B5CF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360" b="-360"/>
          <a:stretch/>
        </p:blipFill>
        <p:spPr>
          <a:xfrm>
            <a:off x="7286854" y="3857854"/>
            <a:ext cx="381305" cy="384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619695" y="3810305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구축의 딜레마와 AI 기반 해결책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LLM을 활용한 자동 구축으로 수만 개 통계 용어의 개념 관계도를 효율적으로 구축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076249" y="1429207"/>
            <a:ext cx="19714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 딜레마 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761695" y="1819655"/>
            <a:ext cx="2286000" cy="1592069"/>
          </a:xfrm>
          <a:prstGeom prst="roundRect">
            <a:avLst>
              <a:gd name="adj" fmla="val 10155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75995" y="1933955"/>
            <a:ext cx="2057400" cy="25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수작업의 한계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75995" y="2200045"/>
            <a:ext cx="2057400" cy="91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수만 개의 통계 용어</a:t>
            </a:r>
            <a:endParaRPr lang="en-US" sz="105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일일이 관계도 작성</a:t>
            </a:r>
            <a:endParaRPr lang="en-US" sz="105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엄청난 시간/비용 소요 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761085" y="3621489"/>
            <a:ext cx="2286000" cy="1488914"/>
          </a:xfrm>
          <a:prstGeom prst="roundRect">
            <a:avLst>
              <a:gd name="adj" fmla="val 11614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75385" y="3735788"/>
            <a:ext cx="2057400" cy="25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AI 해결책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875385" y="4002794"/>
            <a:ext cx="2057400" cy="81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LLM이 초안 자동 생성</a:t>
            </a:r>
            <a:endParaRPr lang="en-US" sz="105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전문가 검토 및 승인</a:t>
            </a:r>
            <a:endParaRPr lang="en-US" sz="105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구축 속도/정확성 향상 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1478585"/>
            <a:ext cx="171907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619195" y="1429207"/>
            <a:ext cx="7810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r>
              <a:rPr lang="en-US" sz="1500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기반 온톨로지 구축 프로세스 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3857854" y="2476195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문서 읽기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3892398" y="2776576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지침서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용어집 분석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857646" y="2476195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관계 추출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5892190" y="2776576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관계도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자동 생성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7858354" y="2476195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전문가 검토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7892898" y="2776576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관계도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 확인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9858146" y="2476195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승인/적용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9892690" y="2776576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적용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3857854" y="39054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지속 관리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3892398" y="4205783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업데이트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5857646" y="39054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최적화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5892190" y="4205783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개선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향상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7858354" y="39054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완료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7892898" y="4205783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구축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000500" y="50959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구축 속도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4000500" y="5333695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대비 10배 향상</a:t>
            </a:r>
            <a:endParaRPr 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5857646" y="50959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정확성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5857646" y="5333695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 검증 후 승인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7715707" y="50959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비용 절감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7715707" y="5333695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소요 70% 감소</a:t>
            </a:r>
            <a:endParaRPr lang="en-US" sz="1050" dirty="0"/>
          </a:p>
        </p:txBody>
      </p:sp>
      <p:sp>
        <p:nvSpPr>
          <p:cNvPr id="57" name="Text 48"/>
          <p:cNvSpPr txBox="1"/>
          <p:nvPr/>
        </p:nvSpPr>
        <p:spPr>
          <a:xfrm>
            <a:off x="9572854" y="50959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지속 관리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9572854" y="5333695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업데이트</a:t>
            </a:r>
            <a:endParaRPr lang="en-US" sz="105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4352544" y="2048256"/>
            <a:ext cx="228600" cy="304495"/>
          </a:xfrm>
          <a:prstGeom prst="rect">
            <a:avLst/>
          </a:prstGeom>
        </p:spPr>
      </p:pic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rcRect l="-50" r="-50"/>
          <a:stretch/>
        </p:blipFill>
        <p:spPr>
          <a:xfrm>
            <a:off x="6353251" y="2048256"/>
            <a:ext cx="342900" cy="304495"/>
          </a:xfrm>
          <a:prstGeom prst="rect">
            <a:avLst/>
          </a:prstGeom>
        </p:spPr>
      </p:pic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rcRect l="-90" r="-90"/>
          <a:stretch/>
        </p:blipFill>
        <p:spPr>
          <a:xfrm>
            <a:off x="8353044" y="2048256"/>
            <a:ext cx="381305" cy="304495"/>
          </a:xfrm>
          <a:prstGeom prst="rect">
            <a:avLst/>
          </a:prstGeom>
        </p:spPr>
      </p:pic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353751" y="2048256"/>
            <a:ext cx="304495" cy="304495"/>
          </a:xfrm>
          <a:prstGeom prst="rect">
            <a:avLst/>
          </a:prstGeom>
        </p:spPr>
      </p:pic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352544" y="3476549"/>
            <a:ext cx="304495" cy="304495"/>
          </a:xfrm>
          <a:prstGeom prst="rect">
            <a:avLst/>
          </a:prstGeom>
        </p:spPr>
      </p:pic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353251" y="3476549"/>
            <a:ext cx="304495" cy="304495"/>
          </a:xfrm>
          <a:prstGeom prst="rect">
            <a:avLst/>
          </a:prstGeom>
        </p:spPr>
      </p:pic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6"/>
          <a:srcRect l="-107" r="-107"/>
          <a:stretch/>
        </p:blipFill>
        <p:spPr>
          <a:xfrm>
            <a:off x="8353044" y="3476549"/>
            <a:ext cx="267005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15354"/>
            <a:ext cx="12191695" cy="1426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277002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2952598"/>
            <a:ext cx="10705795" cy="1752905"/>
          </a:xfrm>
          <a:prstGeom prst="roundRect">
            <a:avLst>
              <a:gd name="adj" fmla="val 680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4858207"/>
            <a:ext cx="10705795" cy="13716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1524305"/>
            <a:ext cx="1962302" cy="1200607"/>
          </a:xfrm>
          <a:prstGeom prst="roundRect">
            <a:avLst>
              <a:gd name="adj" fmla="val 9671"/>
            </a:avLst>
          </a:prstGeom>
          <a:solidFill>
            <a:srgbClr val="FEF3C7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24305"/>
            <a:ext cx="3866998" cy="1200607"/>
          </a:xfrm>
          <a:prstGeom prst="roundRect">
            <a:avLst>
              <a:gd name="adj" fmla="val 9671"/>
            </a:avLst>
          </a:prstGeom>
          <a:solidFill>
            <a:srgbClr val="DBEAFE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0" y="1524305"/>
            <a:ext cx="1962302" cy="1200607"/>
          </a:xfrm>
          <a:prstGeom prst="roundRect">
            <a:avLst>
              <a:gd name="adj" fmla="val 9671"/>
            </a:avLst>
          </a:prstGeom>
          <a:solidFill>
            <a:srgbClr val="DCFCE7"/>
          </a:solidFill>
          <a:ln w="381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2746585" y="2000707"/>
            <a:ext cx="571500" cy="384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31939" y="1952244"/>
            <a:ext cx="95098" cy="133502"/>
          </a:xfrm>
          <a:custGeom>
            <a:avLst/>
            <a:gdLst/>
            <a:ahLst/>
            <a:cxnLst/>
            <a:rect l="l" t="t" r="r" b="b"/>
            <a:pathLst>
              <a:path w="95098" h="133502">
                <a:moveTo>
                  <a:pt x="0" y="0"/>
                </a:moveTo>
                <a:lnTo>
                  <a:pt x="95098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7318585" y="2000707"/>
            <a:ext cx="571500" cy="384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03939" y="1952244"/>
            <a:ext cx="95098" cy="133502"/>
          </a:xfrm>
          <a:custGeom>
            <a:avLst/>
            <a:gdLst/>
            <a:ahLst/>
            <a:cxnLst/>
            <a:rect l="l" t="t" r="r" b="b"/>
            <a:pathLst>
              <a:path w="95098" h="133502">
                <a:moveTo>
                  <a:pt x="0" y="0"/>
                </a:moveTo>
                <a:lnTo>
                  <a:pt x="95098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2: GSIM(일반통계정보모델)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생산부터 서비스까지의 모든 정보를 규격화한 국제 공통 언어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64284" y="1714500"/>
            <a:ext cx="9582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설계/생산 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261872" y="2032710"/>
            <a:ext cx="1619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설계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가공/분석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7396" y="1750162"/>
            <a:ext cx="133502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44898" y="1714500"/>
            <a:ext cx="2449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GSIM (일반통계정보모델) 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123487" y="210359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생산 → 서비스까지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정보를 규격화한 국제 공통 언어 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4154119" y="1762049"/>
            <a:ext cx="171907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541410" y="1714500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서비스/배포 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8500262" y="2032710"/>
            <a:ext cx="1619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저장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제공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챗봇/포털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95436" y="1750162"/>
            <a:ext cx="133502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61872" y="3143707"/>
            <a:ext cx="9977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GSIM</a:t>
            </a:r>
            <a:r>
              <a:rPr lang="ko-KR" alt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장점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952805" y="3514954"/>
            <a:ext cx="3305556" cy="9144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1095451" y="3657600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생산 단계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1281988" y="3931614"/>
            <a:ext cx="30202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통계 설계 및 데이터 수집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가공/분석 프로세스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444898" y="3514954"/>
            <a:ext cx="3305556" cy="9144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587545" y="3657600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GSIM 표준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4774082" y="3931614"/>
            <a:ext cx="30202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통일된 규격화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공통 언어 정의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937906" y="3514954"/>
            <a:ext cx="3305556" cy="914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080553" y="3657600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서비스 단계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8267090" y="3931614"/>
            <a:ext cx="30202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저장/배포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API/챗봇 제공</a:t>
            </a:r>
            <a:endParaRPr lang="en-US" sz="105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952805" y="3191256"/>
            <a:ext cx="171907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306678" y="5143500"/>
            <a:ext cx="2980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통일된 조립 설명서 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1047902" y="5419649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포털/챗봇/보고서에서 동일한 기준으로 통계 조립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4774082" y="5143500"/>
            <a:ext cx="2941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일관성 확보 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4476902" y="5419649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생산부터 서비스까지 전 과정의 정보 규격화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8164678" y="5143500"/>
            <a:ext cx="2980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국제 호환성 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7905902" y="5419649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OECD, UN 등 국제 기관과의 연계 가능</a:t>
            </a:r>
            <a:endParaRPr lang="en-US" sz="105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47902" y="5180076"/>
            <a:ext cx="142646" cy="142646"/>
          </a:xfrm>
          <a:prstGeom prst="rect">
            <a:avLst/>
          </a:prstGeom>
        </p:spPr>
      </p:pic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 l="-769" r="-769"/>
          <a:stretch/>
        </p:blipFill>
        <p:spPr>
          <a:xfrm>
            <a:off x="4476902" y="5180076"/>
            <a:ext cx="181051" cy="142646"/>
          </a:xfrm>
          <a:prstGeom prst="rect">
            <a:avLst/>
          </a:prstGeom>
        </p:spPr>
      </p:pic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05902" y="5180076"/>
            <a:ext cx="142646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467198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91402" y="1238098"/>
            <a:ext cx="5467198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3905402"/>
            <a:ext cx="5467198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91402" y="3905402"/>
            <a:ext cx="5467198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571500" y="1238098"/>
            <a:ext cx="5429707" cy="5715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6191402" y="1238098"/>
            <a:ext cx="5429707" cy="5715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571500" y="3905402"/>
            <a:ext cx="5429707" cy="5715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4" r="-4"/>
          <a:stretch/>
        </p:blipFill>
        <p:spPr>
          <a:xfrm>
            <a:off x="6191402" y="3905402"/>
            <a:ext cx="5429707" cy="5715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구축 4대 원칙</a:t>
            </a:r>
            <a:endParaRPr lang="en-US" sz="24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통계 메타데이터를 위한 체계적 구축 기준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809244" y="1380744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r>
              <a:rPr lang="en-US" sz="1600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공통 레지스트리 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2000707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부처 칸막이를 넘는 공통 레지스트리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2280786"/>
            <a:ext cx="4620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데이터셋별 메타데이터에서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전체 공통 레지스트리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전환하여, AI가 관련 변수를 쉽게 찾을 수 있도록 합니다. 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2819368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정의로 AI가 변수 탐색 가능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100359"/>
            <a:ext cx="49907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"실업률"과 같은 개념을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전체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일관되게 정의하여 AI가 자동 탐색합니다. 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2029054"/>
            <a:ext cx="190195" cy="190195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809244" y="2874030"/>
            <a:ext cx="171907" cy="1901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29146" y="1380744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r>
              <a:rPr lang="en-US" sz="1600" b="1" kern="0" spc="-37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단위 표준화 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6762902" y="2000707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데이터셋이 아닌 개별 변수 단위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762902" y="2280786"/>
            <a:ext cx="52285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레벨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아닌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레벨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의미를 정의하여 AI가 세부 내용을 파악합니다. </a:t>
            </a:r>
            <a:endParaRPr lang="en-US" sz="1050" dirty="0"/>
          </a:p>
        </p:txBody>
      </p:sp>
      <p:sp>
        <p:nvSpPr>
          <p:cNvPr id="26" name="Text 17"/>
          <p:cNvSpPr txBox="1"/>
          <p:nvPr/>
        </p:nvSpPr>
        <p:spPr>
          <a:xfrm>
            <a:off x="6762902" y="2621857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 정의, 조사 대상 등 명확화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6762902" y="2901934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단위, 분모, 조사 대상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세부 정보를 명시하여 AI가 정확히 해석합니다. 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2029054"/>
            <a:ext cx="190195" cy="190195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29146" y="2675605"/>
            <a:ext cx="190195" cy="19019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09244" y="4048049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r>
              <a:rPr lang="en-US" sz="1600" b="1" kern="0" spc="-37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온톨로지 개념망 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1143000" y="4667098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개념망 구축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1143000" y="4965022"/>
            <a:ext cx="5466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SKOS/XKOS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활용하여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개념 관계망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구축하여 AI가 복잡한 관계를 추론합니다. 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1143000" y="5415246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간 관계 명시</a:t>
            </a:r>
            <a:endParaRPr lang="en-US" sz="1400" dirty="0"/>
          </a:p>
        </p:txBody>
      </p:sp>
      <p:sp>
        <p:nvSpPr>
          <p:cNvPr id="34" name="Text 23"/>
          <p:cNvSpPr txBox="1"/>
          <p:nvPr/>
        </p:nvSpPr>
        <p:spPr>
          <a:xfrm>
            <a:off x="1143000" y="5704706"/>
            <a:ext cx="5569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"청년실업률" = "청년"(계층) + "실업"(상태) + "경제활동인구"(분모) 관계를 명시합니다.</a:t>
            </a:r>
            <a:endParaRPr lang="en-US" sz="10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4695444"/>
            <a:ext cx="190195" cy="190195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9244" y="5444507"/>
            <a:ext cx="237744" cy="19019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429146" y="4048049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r>
              <a:rPr lang="en-US" sz="1600" b="1" kern="0" spc="-37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GSIM 정합성 </a:t>
            </a:r>
            <a:endParaRPr lang="en-US" sz="1600" dirty="0"/>
          </a:p>
        </p:txBody>
      </p:sp>
      <p:sp>
        <p:nvSpPr>
          <p:cNvPr id="38" name="Text 25"/>
          <p:cNvSpPr txBox="1"/>
          <p:nvPr/>
        </p:nvSpPr>
        <p:spPr>
          <a:xfrm>
            <a:off x="6762902" y="4667098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GSIM 표준 철저 준수</a:t>
            </a:r>
            <a:endParaRPr lang="en-US" sz="1400" dirty="0"/>
          </a:p>
        </p:txBody>
      </p:sp>
      <p:sp>
        <p:nvSpPr>
          <p:cNvPr id="39" name="Text 26"/>
          <p:cNvSpPr txBox="1"/>
          <p:nvPr/>
        </p:nvSpPr>
        <p:spPr>
          <a:xfrm>
            <a:off x="6762902" y="4965022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일반통계정보모델(GSIM)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따르는 메타데이터 구조로 통일성을 확보합니다. 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6762902" y="5415246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표준과의 호환성</a:t>
            </a:r>
            <a:endParaRPr lang="en-US" sz="1400" dirty="0"/>
          </a:p>
        </p:txBody>
      </p:sp>
      <p:sp>
        <p:nvSpPr>
          <p:cNvPr id="41" name="Text 28"/>
          <p:cNvSpPr txBox="1"/>
          <p:nvPr/>
        </p:nvSpPr>
        <p:spPr>
          <a:xfrm>
            <a:off x="6762902" y="5704706"/>
            <a:ext cx="4620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공통 언어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통계 생산부터 서비스까지 일관성을 유지합니다. </a:t>
            </a:r>
            <a:endParaRPr lang="en-US" sz="10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695444"/>
            <a:ext cx="190195" cy="190195"/>
          </a:xfrm>
          <a:prstGeom prst="rect">
            <a:avLst/>
          </a:prstGeom>
        </p:spPr>
      </p:pic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29146" y="5444507"/>
            <a:ext cx="190195" cy="190195"/>
          </a:xfrm>
          <a:prstGeom prst="rect">
            <a:avLst/>
          </a:prstGeom>
        </p:spPr>
      </p:pic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3"/>
          <a:srcRect l="-881" r="-881"/>
          <a:stretch/>
        </p:blipFill>
        <p:spPr>
          <a:xfrm>
            <a:off x="5333695" y="1333195"/>
            <a:ext cx="237744" cy="267005"/>
          </a:xfrm>
          <a:prstGeom prst="rect">
            <a:avLst/>
          </a:prstGeom>
        </p:spPr>
      </p:pic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4"/>
          <a:srcRect l="-685" r="-685"/>
          <a:stretch/>
        </p:blipFill>
        <p:spPr>
          <a:xfrm>
            <a:off x="10953598" y="1333195"/>
            <a:ext cx="304495" cy="267005"/>
          </a:xfrm>
          <a:prstGeom prst="rect">
            <a:avLst/>
          </a:prstGeom>
        </p:spPr>
      </p:pic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5"/>
          <a:srcRect l="-685" r="-685"/>
          <a:stretch/>
        </p:blipFill>
        <p:spPr>
          <a:xfrm>
            <a:off x="5333695" y="4000500"/>
            <a:ext cx="304495" cy="267005"/>
          </a:xfrm>
          <a:prstGeom prst="rect">
            <a:avLst/>
          </a:prstGeom>
        </p:spPr>
      </p:pic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6"/>
          <a:srcRect l="-685" r="-685"/>
          <a:stretch/>
        </p:blipFill>
        <p:spPr>
          <a:xfrm>
            <a:off x="10953598" y="4000500"/>
            <a:ext cx="304495" cy="2670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52805" y="2000707"/>
            <a:ext cx="4839005" cy="1943100"/>
          </a:xfrm>
          <a:prstGeom prst="roundRect">
            <a:avLst>
              <a:gd name="adj" fmla="val 3691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1] 계절조정 vs 원계열의 혼란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원계열(-2.1%)과 계절조정계열(+0.5%)을 구분하지 못해 상반된 해석이 나오는 문제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6366" y="1429207"/>
            <a:ext cx="48088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-37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상황 </a:t>
            </a: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48132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6201" y="2143354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원계열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6084" y="2419502"/>
            <a:ext cx="73700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-2.1%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268477" y="2800807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동월 대비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250267" y="2143354"/>
            <a:ext cx="1175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계절조정계열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14223" y="2419502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+0.5%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514223" y="2800807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전월 대비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143000" y="3105302"/>
            <a:ext cx="4381805" cy="590702"/>
          </a:xfrm>
          <a:prstGeom prst="roundRect">
            <a:avLst>
              <a:gd name="adj" fmla="val 2996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523390" y="3200400"/>
            <a:ext cx="390631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원계열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보고 "경제 침체"라고 답할지,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계절조정계열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보고 "경제 회복"이라고 답할지 몰라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혼란에 빠집니다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1238098" y="3236062"/>
            <a:ext cx="171907" cy="13350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61695" y="4095597"/>
            <a:ext cx="5143500" cy="816559"/>
          </a:xfrm>
          <a:prstGeom prst="roundRect">
            <a:avLst>
              <a:gd name="adj" fmla="val 30453"/>
            </a:avLst>
          </a:prstGeom>
          <a:solidFill>
            <a:srgbClr val="FEF2F2"/>
          </a:solidFill>
          <a:ln/>
        </p:spPr>
      </p:sp>
      <p:sp>
        <p:nvSpPr>
          <p:cNvPr id="23" name="Shape 18"/>
          <p:cNvSpPr/>
          <p:nvPr/>
        </p:nvSpPr>
        <p:spPr>
          <a:xfrm>
            <a:off x="761695" y="4095597"/>
            <a:ext cx="38405" cy="816559"/>
          </a:xfrm>
          <a:prstGeom prst="roundRect">
            <a:avLst>
              <a:gd name="adj" fmla="val 53655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173175" y="4209898"/>
            <a:ext cx="4618634" cy="24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"요즘 경제 흐름 어때?" 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" y="4457700"/>
            <a:ext cx="5926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일상어로 질문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하면, AI는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지표를 선택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할지 몰라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상반된 해석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내놓습니다. 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1695" y="5003259"/>
            <a:ext cx="5143500" cy="816559"/>
          </a:xfrm>
          <a:prstGeom prst="roundRect">
            <a:avLst>
              <a:gd name="adj" fmla="val 30453"/>
            </a:avLst>
          </a:prstGeom>
          <a:solidFill>
            <a:srgbClr val="F0FDF4"/>
          </a:solidFill>
          <a:ln/>
        </p:spPr>
      </p:sp>
      <p:sp>
        <p:nvSpPr>
          <p:cNvPr id="27" name="Shape 22"/>
          <p:cNvSpPr/>
          <p:nvPr/>
        </p:nvSpPr>
        <p:spPr>
          <a:xfrm>
            <a:off x="761695" y="5003259"/>
            <a:ext cx="38405" cy="816559"/>
          </a:xfrm>
          <a:prstGeom prst="roundRect">
            <a:avLst>
              <a:gd name="adj" fmla="val 53655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135685" y="5117560"/>
            <a:ext cx="4656125" cy="24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 필요 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5406780"/>
            <a:ext cx="56592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파악하고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지표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선택하도록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규칙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명시해야 합니다. </a:t>
            </a:r>
            <a:endParaRPr lang="en-US" sz="1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4247387"/>
            <a:ext cx="142646" cy="172139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870" b="-870"/>
          <a:stretch/>
        </p:blipFill>
        <p:spPr>
          <a:xfrm>
            <a:off x="914400" y="5154135"/>
            <a:ext cx="105156" cy="17213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11366" y="1429207"/>
            <a:ext cx="46186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-37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메타데이터 기반 해결 </a:t>
            </a: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6695" y="1481328"/>
            <a:ext cx="190195" cy="19019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667805" y="2095805"/>
            <a:ext cx="4762195" cy="1076249"/>
          </a:xfrm>
          <a:prstGeom prst="roundRect">
            <a:avLst>
              <a:gd name="adj" fmla="val 12030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082028" y="2257654"/>
            <a:ext cx="4187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명시적인 메타데이터 규칙 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7101230" y="2581351"/>
            <a:ext cx="416783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메타데이터 안에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"단기 흐름 분석에는 계절조정계열 사용을 권장함"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규칙을 명시합니다. 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667805" y="3360420"/>
            <a:ext cx="4762195" cy="1076249"/>
          </a:xfrm>
          <a:prstGeom prst="roundRect">
            <a:avLst>
              <a:gd name="adj" fmla="val 1203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01230" y="3522269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AI 선택 로직 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101230" y="3845966"/>
            <a:ext cx="416783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사용자의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파악하고, 메타데이터 규칙(GSIM의 Concept/Structure 그룹)을 읽어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지표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선택합니다. 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667805" y="4625035"/>
            <a:ext cx="4762195" cy="1076249"/>
          </a:xfrm>
          <a:prstGeom prst="roundRect">
            <a:avLst>
              <a:gd name="adj" fmla="val 1203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101230" y="4787798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정확한 답변 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7101230" y="5111496"/>
            <a:ext cx="416783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"최근 경제는 회복세"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답변하며,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계절조정계열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수치를 바탕으로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분석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제공합니다. </a:t>
            </a:r>
            <a:endParaRPr lang="en-US" sz="105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829654" y="2305202"/>
            <a:ext cx="133502" cy="152705"/>
          </a:xfrm>
          <a:prstGeom prst="rect">
            <a:avLst/>
          </a:prstGeom>
        </p:spPr>
      </p:pic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29654" y="3569818"/>
            <a:ext cx="152705" cy="152705"/>
          </a:xfrm>
          <a:prstGeom prst="rect">
            <a:avLst/>
          </a:prstGeom>
        </p:spPr>
      </p:pic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29654" y="4835347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1] 메타데이터 기반의 똑똑한 답변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메타데이터 규칙을 읽어 정확한 계열을 선택하는 해결 과정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67105" y="1429207"/>
            <a:ext cx="4838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-37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메타데이터 규칙 </a:t>
            </a: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412" b="-1412"/>
          <a:stretch/>
        </p:blipFill>
        <p:spPr>
          <a:xfrm>
            <a:off x="761695" y="1481328"/>
            <a:ext cx="161849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52805" y="2000707"/>
            <a:ext cx="4762195" cy="1410005"/>
          </a:xfrm>
          <a:prstGeom prst="roundRect">
            <a:avLst>
              <a:gd name="adj" fmla="val 7011"/>
            </a:avLst>
          </a:prstGeom>
          <a:solidFill>
            <a:srgbClr val="EFF6FF"/>
          </a:solidFill>
          <a:ln/>
        </p:spPr>
      </p:sp>
      <p:sp>
        <p:nvSpPr>
          <p:cNvPr id="13" name="Shape 9"/>
          <p:cNvSpPr/>
          <p:nvPr/>
        </p:nvSpPr>
        <p:spPr>
          <a:xfrm>
            <a:off x="952805" y="2000707"/>
            <a:ext cx="38405" cy="1410005"/>
          </a:xfrm>
          <a:prstGeom prst="roundRect">
            <a:avLst>
              <a:gd name="adj" fmla="val 2573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300277" y="2190902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계열 선택 규칙 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81405" y="253380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"단기 흐름 분석에는 계절조정계열 사용을 권장함"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원계열: 전년 동월 대비 (YoY) 분석에 적합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계절조정계열: 전월 대비 (MoM) 분석에 적합 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52805" y="3642055"/>
            <a:ext cx="4762195" cy="1410005"/>
          </a:xfrm>
          <a:prstGeom prst="roundRect">
            <a:avLst>
              <a:gd name="adj" fmla="val 7011"/>
            </a:avLst>
          </a:prstGeom>
          <a:solidFill>
            <a:srgbClr val="F0FDF4"/>
          </a:solidFill>
          <a:ln/>
        </p:spPr>
      </p:sp>
      <p:sp>
        <p:nvSpPr>
          <p:cNvPr id="17" name="Shape 13"/>
          <p:cNvSpPr/>
          <p:nvPr/>
        </p:nvSpPr>
        <p:spPr>
          <a:xfrm>
            <a:off x="952805" y="3642055"/>
            <a:ext cx="38405" cy="1410005"/>
          </a:xfrm>
          <a:prstGeom prst="roundRect">
            <a:avLst>
              <a:gd name="adj" fmla="val 257399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452982" y="3833165"/>
            <a:ext cx="4071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AI 선택 로직 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81405" y="4176065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사용자 질문 의도 파악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메타데이터 규칙(GSIM) 적용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적절한 계열 자동 선택 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52805" y="5284318"/>
            <a:ext cx="4762195" cy="1181405"/>
          </a:xfrm>
          <a:prstGeom prst="roundRect">
            <a:avLst>
              <a:gd name="adj" fmla="val 9987"/>
            </a:avLst>
          </a:prstGeom>
          <a:solidFill>
            <a:srgbClr val="FEF3C7"/>
          </a:solidFill>
          <a:ln/>
        </p:spPr>
      </p:sp>
      <p:sp>
        <p:nvSpPr>
          <p:cNvPr id="21" name="Shape 17"/>
          <p:cNvSpPr/>
          <p:nvPr/>
        </p:nvSpPr>
        <p:spPr>
          <a:xfrm>
            <a:off x="952805" y="5284318"/>
            <a:ext cx="38405" cy="1181405"/>
          </a:xfrm>
          <a:prstGeom prst="roundRect">
            <a:avLst>
              <a:gd name="adj" fmla="val 30721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414577" y="5474513"/>
            <a:ext cx="4110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결과 검증 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181405" y="5817413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선택된 계열의 적절성 확인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결과의 일관성 검증 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81405" y="3880714"/>
            <a:ext cx="152705" cy="152705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181405" y="5522062"/>
            <a:ext cx="114300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58914" y="1429207"/>
            <a:ext cx="45710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-37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답변 프로세스 </a:t>
            </a: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6695" y="1481328"/>
            <a:ext cx="237744" cy="1901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667805" y="2210105"/>
            <a:ext cx="418795" cy="4187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6825082" y="2333549"/>
            <a:ext cx="105156" cy="171907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229246" y="2095805"/>
            <a:ext cx="4009644" cy="647395"/>
          </a:xfrm>
          <a:prstGeom prst="roundRect">
            <a:avLst>
              <a:gd name="adj" fmla="val 3323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372807" y="2210105"/>
            <a:ext cx="3724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사용자 질문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372807" y="2447849"/>
            <a:ext cx="37243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"요즘 경제 흐름 어때?"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667805" y="3095244"/>
            <a:ext cx="418795" cy="4187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91249" y="3219602"/>
            <a:ext cx="171907" cy="171907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229246" y="2980944"/>
            <a:ext cx="4009644" cy="647395"/>
          </a:xfrm>
          <a:prstGeom prst="roundRect">
            <a:avLst>
              <a:gd name="adj" fmla="val 33234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372807" y="3095244"/>
            <a:ext cx="3724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의도 파악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7372807" y="3333902"/>
            <a:ext cx="37243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흐름 분석 필요성 인식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667805" y="3981298"/>
            <a:ext cx="418795" cy="4187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6801307" y="4105656"/>
            <a:ext cx="152705" cy="171907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229246" y="3866998"/>
            <a:ext cx="4009644" cy="647395"/>
          </a:xfrm>
          <a:prstGeom prst="roundRect">
            <a:avLst>
              <a:gd name="adj" fmla="val 3323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372807" y="3981298"/>
            <a:ext cx="3724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계열 선택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7372807" y="4219956"/>
            <a:ext cx="37243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계절조정계열 적용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6667805" y="4753051"/>
            <a:ext cx="4572000" cy="1218895"/>
          </a:xfrm>
          <a:prstGeom prst="roundRect">
            <a:avLst>
              <a:gd name="adj" fmla="val 9377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7129577" y="4962449"/>
            <a:ext cx="390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최종 답변 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7010704" y="5305349"/>
            <a:ext cx="40197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"최근 경제는 회복세"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답변하며,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계절조정계열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수치를 바탕으로 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분석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제공합니다. </a:t>
            </a:r>
            <a:endParaRPr lang="en-US" sz="11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6877202" y="5009998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2] 끝없는 수동 모니터링의 한계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가짜뉴스 대응을 위한 담당자의 고된 수작업과 그 한계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6366" y="1429207"/>
            <a:ext cx="48088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37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현재의 수동 모니터링 현황 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481328"/>
            <a:ext cx="190195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000707"/>
            <a:ext cx="5143500" cy="1019556"/>
          </a:xfrm>
          <a:prstGeom prst="roundRect">
            <a:avLst>
              <a:gd name="adj" fmla="val 13411"/>
            </a:avLst>
          </a:prstGeom>
          <a:solidFill>
            <a:srgbClr val="FE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2000707"/>
            <a:ext cx="38405" cy="1019556"/>
          </a:xfrm>
          <a:prstGeom prst="roundRect">
            <a:avLst>
              <a:gd name="adj" fmla="val 35602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214323" y="2143354"/>
            <a:ext cx="454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평일 모니터링 (6:00 ~ 20:00) 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42746" y="2447849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대변인실: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1시간 간격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실시 (14회/일)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실사과: 하루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3회 이상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(9시, 13시, 18시) 키워드 검색 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61695" y="3207715"/>
            <a:ext cx="5143500" cy="1019556"/>
          </a:xfrm>
          <a:prstGeom prst="roundRect">
            <a:avLst>
              <a:gd name="adj" fmla="val 13411"/>
            </a:avLst>
          </a:prstGeom>
          <a:solidFill>
            <a:srgbClr val="FE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761695" y="3207715"/>
            <a:ext cx="38405" cy="1019556"/>
          </a:xfrm>
          <a:prstGeom prst="roundRect">
            <a:avLst>
              <a:gd name="adj" fmla="val 35602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95121" y="3351276"/>
            <a:ext cx="4567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주말/공휴일 모니터링 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42746" y="3655771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대변인실 및 실사과: 하루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3회 이상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(8시, 13시, 18시)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3대 동향 및 가계수지동향과, 복지과, 인구동향과는 필수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61695" y="4415638"/>
            <a:ext cx="5143500" cy="1019556"/>
          </a:xfrm>
          <a:prstGeom prst="roundRect">
            <a:avLst>
              <a:gd name="adj" fmla="val 13411"/>
            </a:avLst>
          </a:prstGeom>
          <a:solidFill>
            <a:srgbClr val="FEF2F2"/>
          </a:solidFill>
          <a:ln/>
        </p:spPr>
      </p:sp>
      <p:sp>
        <p:nvSpPr>
          <p:cNvPr id="21" name="Shape 17"/>
          <p:cNvSpPr/>
          <p:nvPr/>
        </p:nvSpPr>
        <p:spPr>
          <a:xfrm>
            <a:off x="761695" y="4415638"/>
            <a:ext cx="38405" cy="1019556"/>
          </a:xfrm>
          <a:prstGeom prst="roundRect">
            <a:avLst>
              <a:gd name="adj" fmla="val 35602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75918" y="4559198"/>
            <a:ext cx="4586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늦은 밤/주말 대응 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42746" y="4863694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최근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늦은 밤(9시 이후)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에도 대응하는 추세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담당자가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밤낮없이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모니터링해야 하는 상황 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61695" y="5623560"/>
            <a:ext cx="5143500" cy="448056"/>
          </a:xfrm>
          <a:prstGeom prst="roundRect">
            <a:avLst>
              <a:gd name="adj" fmla="val 6947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95451" y="5747918"/>
            <a:ext cx="46872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문제: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끝없는 수작업으로 인한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부담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가능성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746" y="2190902"/>
            <a:ext cx="152705" cy="152705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942746" y="3398825"/>
            <a:ext cx="133502" cy="152705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942746" y="4606747"/>
            <a:ext cx="114300" cy="152705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054" y="5783580"/>
            <a:ext cx="133502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620256" y="1429207"/>
            <a:ext cx="480974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37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담당자의 고충 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572707" y="2095805"/>
            <a:ext cx="4762195" cy="1057046"/>
          </a:xfrm>
          <a:prstGeom prst="roundRect">
            <a:avLst>
              <a:gd name="adj" fmla="val 12469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006133" y="2257654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끝없는 키워드 검색 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734556" y="2562149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부서 관련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키워드로 촘촘하게 검색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수치가 맞는지 직접 확인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하는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572707" y="3341218"/>
            <a:ext cx="4762195" cy="847649"/>
          </a:xfrm>
          <a:prstGeom prst="roundRect">
            <a:avLst>
              <a:gd name="adj" fmla="val 19393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967728" y="350306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 확인의 번거로움 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734556" y="3808476"/>
            <a:ext cx="4847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기사 속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수치의 오류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해석 왜곡 여부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일일이 검증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함 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572707" y="4374490"/>
            <a:ext cx="4762195" cy="847649"/>
          </a:xfrm>
          <a:prstGeom prst="roundRect">
            <a:avLst>
              <a:gd name="adj" fmla="val 19393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006133" y="4536338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주말/야간 대응 부담 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734556" y="4840834"/>
            <a:ext cx="4655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주말이나 늦은 밤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에도 대응해야 하는,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그야말로 끝이 없는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고된 수작업 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572707" y="5406847"/>
            <a:ext cx="4762195" cy="448056"/>
          </a:xfrm>
          <a:prstGeom prst="roundRect">
            <a:avLst>
              <a:gd name="adj" fmla="val 69475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905549" y="5530291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피로 누적:</a:t>
            </a: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지속적인 모니터링으로 인한 </a:t>
            </a: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효율성 저하</a:t>
            </a:r>
            <a:endParaRPr lang="en-US" sz="105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4556" y="2305202"/>
            <a:ext cx="152705" cy="152705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734556" y="3550615"/>
            <a:ext cx="114300" cy="152705"/>
          </a:xfrm>
          <a:prstGeom prst="rect">
            <a:avLst/>
          </a:prstGeom>
        </p:spPr>
      </p:pic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34556" y="4583887"/>
            <a:ext cx="152705" cy="152705"/>
          </a:xfrm>
          <a:prstGeom prst="rect">
            <a:avLst/>
          </a:prstGeom>
        </p:spPr>
      </p:pic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96151" y="5565953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943100" cy="5372100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667305" y="1238098"/>
            <a:ext cx="8991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047695" y="4572000"/>
            <a:ext cx="7848295" cy="1086307"/>
          </a:xfrm>
          <a:prstGeom prst="roundRect">
            <a:avLst>
              <a:gd name="adj" fmla="val 1181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47695" y="190469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48402" y="190469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8195" y="190469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48902" y="190469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7695" y="323880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48402" y="323880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8195" y="3238805"/>
            <a:ext cx="1647749" cy="1123798"/>
          </a:xfrm>
          <a:prstGeom prst="roundRect">
            <a:avLst>
              <a:gd name="adj" fmla="val 1103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4705502" y="2428646"/>
            <a:ext cx="304495" cy="384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34102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450" b="-450"/>
          <a:stretch/>
        </p:blipFill>
        <p:spPr>
          <a:xfrm>
            <a:off x="6705295" y="2428646"/>
            <a:ext cx="304495" cy="384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33895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450" b="-450"/>
          <a:stretch/>
        </p:blipFill>
        <p:spPr>
          <a:xfrm>
            <a:off x="8706002" y="2428646"/>
            <a:ext cx="304495" cy="384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934602" y="2381098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F59E0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450" b="-450"/>
          <a:stretch/>
        </p:blipFill>
        <p:spPr>
          <a:xfrm>
            <a:off x="4705502" y="3762756"/>
            <a:ext cx="304495" cy="384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934102" y="3715207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0EA5E9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450" b="-450"/>
          <a:stretch/>
        </p:blipFill>
        <p:spPr>
          <a:xfrm>
            <a:off x="6705295" y="3762756"/>
            <a:ext cx="304495" cy="384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33895" y="3715207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2 해결책: AI 실시간 자동 팩트체크 시스템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기사를 실시간으로 모니터링하고 통계적 주장을 자동으로 검증하는 지능형 시스템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051560" y="1429207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자동화된 검증 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761695" y="1800453"/>
            <a:ext cx="1524305" cy="1385317"/>
          </a:xfrm>
          <a:prstGeom prst="roundRect">
            <a:avLst>
              <a:gd name="adj" fmla="val 12933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75995" y="1914754"/>
            <a:ext cx="1295705" cy="24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실시간 모니터링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875995" y="2171699"/>
            <a:ext cx="1295705" cy="73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24/7 기사 감시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통계 주장 추출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자동 대조 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761695" y="3394302"/>
            <a:ext cx="1524305" cy="1385317"/>
          </a:xfrm>
          <a:prstGeom prst="roundRect">
            <a:avLst>
              <a:gd name="adj" fmla="val 1293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75995" y="3508603"/>
            <a:ext cx="1295705" cy="24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즉각 대응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875995" y="3765549"/>
            <a:ext cx="1295705" cy="73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왜곡 즉각 판별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반박 논리 초안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담당자 알림 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1476756"/>
            <a:ext cx="152705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2857500" y="1429207"/>
            <a:ext cx="8572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r>
              <a:rPr lang="en-US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자동 팩트체크 프로세스 </a:t>
            </a:r>
            <a:endParaRPr lang="en-US" dirty="0"/>
          </a:p>
        </p:txBody>
      </p:sp>
      <p:sp>
        <p:nvSpPr>
          <p:cNvPr id="37" name="Text 28"/>
          <p:cNvSpPr txBox="1"/>
          <p:nvPr/>
        </p:nvSpPr>
        <p:spPr>
          <a:xfrm>
            <a:off x="3095244" y="242864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기사 실시간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3095244" y="2745029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24/7 기사 감시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095951" y="242864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통계 주장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5095951" y="2745029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수치 추출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7095744" y="242864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공식 메타데이터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7095744" y="2745029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온톨로지망 연결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9096451" y="242864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왜곡 즉각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9096451" y="2745029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부정확성 감지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3095244" y="376275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반박 논리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3095244" y="4078224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반박자료 생성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5095951" y="376275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담당자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5095951" y="4078224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알림 전송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7095744" y="3762756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공식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endParaRPr lang="en-US" sz="1050" dirty="0"/>
          </a:p>
        </p:txBody>
      </p:sp>
      <p:sp>
        <p:nvSpPr>
          <p:cNvPr id="50" name="Text 41"/>
          <p:cNvSpPr txBox="1"/>
          <p:nvPr/>
        </p:nvSpPr>
        <p:spPr>
          <a:xfrm>
            <a:off x="7095744" y="4078224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해명자료 배포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3238805" y="480974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실시간 감시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3238805" y="504840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24/7 자동 모니터링</a:t>
            </a:r>
            <a:endParaRPr 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5095951" y="480974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정확도 99%+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5095951" y="504840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정확한 판별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6953098" y="480974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비용 절감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6953098" y="504840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소요 80% 감소</a:t>
            </a:r>
            <a:endParaRPr lang="en-US" sz="1050" dirty="0"/>
          </a:p>
        </p:txBody>
      </p:sp>
      <p:sp>
        <p:nvSpPr>
          <p:cNvPr id="57" name="Text 48"/>
          <p:cNvSpPr txBox="1"/>
          <p:nvPr/>
        </p:nvSpPr>
        <p:spPr>
          <a:xfrm>
            <a:off x="8810244" y="480974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자동화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810244" y="504840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 프로세스</a:t>
            </a:r>
            <a:endParaRPr lang="en-US" sz="105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57600" y="2048256"/>
            <a:ext cx="267005" cy="267005"/>
          </a:xfrm>
          <a:prstGeom prst="rect">
            <a:avLst/>
          </a:prstGeom>
        </p:spPr>
      </p:pic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58307" y="2048256"/>
            <a:ext cx="200254" cy="267005"/>
          </a:xfrm>
          <a:prstGeom prst="rect">
            <a:avLst/>
          </a:prstGeom>
        </p:spPr>
      </p:pic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58100" y="2048256"/>
            <a:ext cx="333756" cy="267005"/>
          </a:xfrm>
          <a:prstGeom prst="rect">
            <a:avLst/>
          </a:prstGeom>
        </p:spPr>
      </p:pic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58807" y="2048256"/>
            <a:ext cx="267005" cy="267005"/>
          </a:xfrm>
          <a:prstGeom prst="rect">
            <a:avLst/>
          </a:prstGeom>
        </p:spPr>
      </p:pic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57600" y="3381451"/>
            <a:ext cx="267005" cy="267005"/>
          </a:xfrm>
          <a:prstGeom prst="rect">
            <a:avLst/>
          </a:prstGeom>
        </p:spPr>
      </p:pic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5"/>
          <a:srcRect l="-881" r="-881"/>
          <a:stretch/>
        </p:blipFill>
        <p:spPr>
          <a:xfrm>
            <a:off x="5658307" y="3381451"/>
            <a:ext cx="237744" cy="267005"/>
          </a:xfrm>
          <a:prstGeom prst="rect">
            <a:avLst/>
          </a:prstGeom>
        </p:spPr>
      </p:pic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58100" y="3381451"/>
            <a:ext cx="267005" cy="2670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0" y="0"/>
            <a:ext cx="12191695" cy="10479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15354"/>
            <a:ext cx="12191695" cy="14264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343253"/>
            <a:ext cx="11087100" cy="4229100"/>
          </a:xfrm>
          <a:prstGeom prst="roundRect">
            <a:avLst>
              <a:gd name="adj" fmla="val 11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71500" y="4381805"/>
            <a:ext cx="11087100" cy="2038198"/>
          </a:xfrm>
          <a:prstGeom prst="roundRect">
            <a:avLst>
              <a:gd name="adj" fmla="val 5031"/>
            </a:avLst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57707" y="2109793"/>
            <a:ext cx="2133295" cy="1443567"/>
          </a:xfrm>
          <a:prstGeom prst="roundRect">
            <a:avLst>
              <a:gd name="adj" fmla="val 14981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15207" y="2109793"/>
            <a:ext cx="2133295" cy="1443567"/>
          </a:xfrm>
          <a:prstGeom prst="roundRect">
            <a:avLst>
              <a:gd name="adj" fmla="val 14981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2707" y="2109793"/>
            <a:ext cx="2133295" cy="1443567"/>
          </a:xfrm>
          <a:prstGeom prst="roundRect">
            <a:avLst>
              <a:gd name="adj" fmla="val 14981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30207" y="2109793"/>
            <a:ext cx="2133295" cy="1443567"/>
          </a:xfrm>
          <a:prstGeom prst="roundRect">
            <a:avLst>
              <a:gd name="adj" fmla="val 14981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3047695" y="2633743"/>
            <a:ext cx="571500" cy="457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571646" y="2586194"/>
            <a:ext cx="95098" cy="163127"/>
          </a:xfrm>
          <a:prstGeom prst="rect">
            <a:avLst/>
          </a:prstGeom>
          <a:noFill/>
          <a:ln w="889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905195" y="2633743"/>
            <a:ext cx="571500" cy="4571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29146" y="2586194"/>
            <a:ext cx="95098" cy="163127"/>
          </a:xfrm>
          <a:prstGeom prst="rect">
            <a:avLst/>
          </a:prstGeom>
          <a:noFill/>
          <a:ln w="889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404" r="-404"/>
          <a:stretch/>
        </p:blipFill>
        <p:spPr>
          <a:xfrm>
            <a:off x="8762695" y="2633743"/>
            <a:ext cx="571500" cy="45719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9286646" y="2586194"/>
            <a:ext cx="95098" cy="163127"/>
          </a:xfrm>
          <a:prstGeom prst="rect">
            <a:avLst/>
          </a:prstGeom>
          <a:noFill/>
          <a:ln w="889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진정한 AX의 시작: 검색을 넘어 '자율 판단'으로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스스로 생각하고 판단하는 '자율형 데이터'의 세계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162202" y="2204891"/>
            <a:ext cx="1696212" cy="27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데이터 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265987" y="2645092"/>
            <a:ext cx="1905610" cy="64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원시 데이터 수집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정제 및 가공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품질 검증 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952805" y="2252439"/>
            <a:ext cx="133502" cy="18659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038905" y="2204891"/>
            <a:ext cx="1677010" cy="27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메타데이터 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4123487" y="2645092"/>
            <a:ext cx="1905610" cy="64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의미 부여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관계 정의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컨텍스트 추가 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0305" y="2252439"/>
            <a:ext cx="152705" cy="186591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96405" y="2204891"/>
            <a:ext cx="1677010" cy="27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추론 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6980987" y="2645092"/>
            <a:ext cx="1905610" cy="64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 분석 및 판단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패턴 인식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예측 및 추정 </a:t>
            </a:r>
            <a:endParaRPr lang="en-US" sz="10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67805" y="2252439"/>
            <a:ext cx="152705" cy="18659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792310" y="2204891"/>
            <a:ext cx="1638605" cy="27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행동 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9838487" y="2645092"/>
            <a:ext cx="1905610" cy="64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자동 알림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보정 제안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의사결정 지원 </a:t>
            </a:r>
            <a:endParaRPr lang="en-US" sz="10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9525305" y="2252439"/>
            <a:ext cx="190195" cy="186591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90295" y="4619549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자율형 데이터 </a:t>
            </a:r>
            <a:endParaRPr lang="en-US" sz="1600" dirty="0"/>
          </a:p>
        </p:txBody>
      </p:sp>
      <p:sp>
        <p:nvSpPr>
          <p:cNvPr id="45" name="Text 33"/>
          <p:cNvSpPr txBox="1"/>
          <p:nvPr/>
        </p:nvSpPr>
        <p:spPr>
          <a:xfrm>
            <a:off x="761695" y="4962449"/>
            <a:ext cx="3314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스스로 생각하고 판단하여 이상치를 감지하고 자동으로 보정을 제안하는 능동적 데이터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4709160" y="4619549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그래프 </a:t>
            </a:r>
            <a:endParaRPr lang="en-US" sz="1600" dirty="0"/>
          </a:p>
        </p:txBody>
      </p:sp>
      <p:sp>
        <p:nvSpPr>
          <p:cNvPr id="47" name="Text 35"/>
          <p:cNvSpPr txBox="1"/>
          <p:nvPr/>
        </p:nvSpPr>
        <p:spPr>
          <a:xfrm>
            <a:off x="4442155" y="4962449"/>
            <a:ext cx="3314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온톨로지를 통해 데이터 간 관계를 명시하여 AI가 의미를 추론할 수 있도록 지원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8389620" y="4619549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지원 </a:t>
            </a:r>
            <a:endParaRPr lang="en-US" sz="1600" dirty="0"/>
          </a:p>
        </p:txBody>
      </p:sp>
      <p:sp>
        <p:nvSpPr>
          <p:cNvPr id="49" name="Text 37"/>
          <p:cNvSpPr txBox="1"/>
          <p:nvPr/>
        </p:nvSpPr>
        <p:spPr>
          <a:xfrm>
            <a:off x="8122615" y="4962449"/>
            <a:ext cx="3314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사례 분석을 통해 최적의 의사결정을 지원하는 AI 시스템</a:t>
            </a:r>
            <a:endParaRPr lang="en-US" sz="11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695" y="4667098"/>
            <a:ext cx="152705" cy="152705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4442155" y="4667098"/>
            <a:ext cx="190195" cy="152705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8122615" y="4667098"/>
            <a:ext cx="19019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46719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4572000"/>
            <a:ext cx="10705795" cy="1752905"/>
          </a:xfrm>
          <a:prstGeom prst="roundRect">
            <a:avLst>
              <a:gd name="adj" fmla="val 4536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29354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6098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3] 데이터 자기 설명 — 문제 감지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스스로 이상치나 논리적 오류를 감지하고 담당자에게 경고하는 자율형 데이터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1695" y="1429207"/>
            <a:ext cx="10668305" cy="514807"/>
          </a:xfrm>
          <a:prstGeom prst="roundRect">
            <a:avLst>
              <a:gd name="adj" fmla="val 52628"/>
            </a:avLst>
          </a:prstGeom>
          <a:solidFill>
            <a:srgbClr val="F0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1429207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61872" y="1571854"/>
            <a:ext cx="9091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데이터에 생산 이력(Provenance)이 </a:t>
            </a:r>
            <a:r>
              <a:rPr lang="en-US" sz="12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온톨로지로</a:t>
            </a: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기록된다면</a:t>
            </a:r>
            <a:r>
              <a:rPr lang="en-US" altLang="ko-KR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48265" y="1591056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자율형 데이터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90295" y="1619402"/>
            <a:ext cx="133502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24305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감지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52805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67105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단계에서 X 변수에 논리적 충돌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067105" y="3295498"/>
            <a:ext cx="30166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패턴과 크게 어긋나는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감지되었습니다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52805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251814" y="3733495"/>
            <a:ext cx="25402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담당자에게 즉시 알림 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67105" y="3767328"/>
            <a:ext cx="105156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91049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오류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619549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733849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간 논리적 불일치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733849" y="3295498"/>
            <a:ext cx="3098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변수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변수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 연산 결과가 예상 범위를 벗어남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19549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927702" y="3733495"/>
            <a:ext cx="25310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원인 분석 중 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33849" y="3767328"/>
            <a:ext cx="114300" cy="1143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858707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해결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8287207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401507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보정 제안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01507" y="3295498"/>
            <a:ext cx="2724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유사 사례에서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방식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보정했습니다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87207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595360" y="3733495"/>
            <a:ext cx="25310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최적의 의사결정 지원 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01507" y="3767328"/>
            <a:ext cx="114300" cy="1143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52805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 모니터링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3666744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이상치/오류 자동 감지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6381598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담당자에게 즉시 알림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9096451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보정 또는 수동 확인</a:t>
            </a:r>
            <a:endParaRPr lang="en-US" sz="10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191" r="-191"/>
          <a:stretch/>
        </p:blipFill>
        <p:spPr>
          <a:xfrm>
            <a:off x="1365199" y="4858207"/>
            <a:ext cx="1324051" cy="42885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795882" y="4858207"/>
            <a:ext cx="89336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수집 </a:t>
            </a:r>
            <a:endParaRPr lang="en-US" sz="11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556" b="-556"/>
          <a:stretch/>
        </p:blipFill>
        <p:spPr>
          <a:xfrm>
            <a:off x="1555394" y="5009083"/>
            <a:ext cx="123444" cy="142646"/>
          </a:xfrm>
          <a:prstGeom prst="rect">
            <a:avLst/>
          </a:prstGeom>
        </p:spPr>
      </p:pic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3295498" y="5014570"/>
            <a:ext cx="171907" cy="190195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l="-319" r="-319"/>
          <a:stretch/>
        </p:blipFill>
        <p:spPr>
          <a:xfrm>
            <a:off x="4198925" y="4858207"/>
            <a:ext cx="1086307" cy="42885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648810" y="4858207"/>
            <a:ext cx="63642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분석 </a:t>
            </a:r>
            <a:endParaRPr lang="en-US" sz="11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390034" y="5009083"/>
            <a:ext cx="142646" cy="142646"/>
          </a:xfrm>
          <a:prstGeom prst="rect">
            <a:avLst/>
          </a:prstGeom>
        </p:spPr>
      </p:pic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010351" y="5014570"/>
            <a:ext cx="171907" cy="190195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267" r="-267"/>
          <a:stretch/>
        </p:blipFill>
        <p:spPr>
          <a:xfrm>
            <a:off x="6851599" y="4858207"/>
            <a:ext cx="1209751" cy="428854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7282282" y="4858207"/>
            <a:ext cx="77906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알림/보고 </a:t>
            </a:r>
            <a:endParaRPr lang="en-US" sz="11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rcRect t="-556" b="-556"/>
          <a:stretch/>
        </p:blipFill>
        <p:spPr>
          <a:xfrm>
            <a:off x="7042709" y="5009083"/>
            <a:ext cx="123444" cy="142646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8725205" y="5014570"/>
            <a:ext cx="171907" cy="190195"/>
          </a:xfrm>
          <a:prstGeom prst="rect">
            <a:avLst/>
          </a:prstGeom>
        </p:spPr>
      </p:pic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7"/>
          <a:srcRect l="-127" r="-127"/>
          <a:stretch/>
        </p:blipFill>
        <p:spPr>
          <a:xfrm>
            <a:off x="9574682" y="4858207"/>
            <a:ext cx="1190549" cy="428854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10005365" y="4858207"/>
            <a:ext cx="76078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 완료 </a:t>
            </a:r>
            <a:endParaRPr lang="en-US" sz="11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8"/>
          <a:srcRect t="-556" b="-556"/>
          <a:stretch/>
        </p:blipFill>
        <p:spPr>
          <a:xfrm>
            <a:off x="9764878" y="5009083"/>
            <a:ext cx="123444" cy="142646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952805" y="2381098"/>
            <a:ext cx="476402" cy="47640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76249" y="2505456"/>
            <a:ext cx="228600" cy="228600"/>
          </a:xfrm>
          <a:prstGeom prst="rect">
            <a:avLst/>
          </a:prstGeom>
        </p:spPr>
      </p:pic>
      <p:sp>
        <p:nvSpPr>
          <p:cNvPr id="60" name="Shape 41"/>
          <p:cNvSpPr/>
          <p:nvPr/>
        </p:nvSpPr>
        <p:spPr>
          <a:xfrm>
            <a:off x="4619549" y="2381098"/>
            <a:ext cx="476402" cy="4764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743907" y="2505456"/>
            <a:ext cx="228600" cy="228600"/>
          </a:xfrm>
          <a:prstGeom prst="rect">
            <a:avLst/>
          </a:prstGeom>
        </p:spPr>
      </p:pic>
      <p:sp>
        <p:nvSpPr>
          <p:cNvPr id="62" name="Shape 42"/>
          <p:cNvSpPr/>
          <p:nvPr/>
        </p:nvSpPr>
        <p:spPr>
          <a:xfrm>
            <a:off x="8287207" y="2381098"/>
            <a:ext cx="476402" cy="47640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410651" y="250545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277002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4572000"/>
            <a:ext cx="10705795" cy="1752905"/>
          </a:xfrm>
          <a:prstGeom prst="roundRect">
            <a:avLst>
              <a:gd name="adj" fmla="val 4536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29354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6098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3] 암묵지의 자산화와 의사결정 지원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베테랑 직원들의 노하우가 메타데이터로 기록되어 AI가 의사결정을 지원하는 과정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1695" y="1429207"/>
            <a:ext cx="10668305" cy="514807"/>
          </a:xfrm>
          <a:prstGeom prst="roundRect">
            <a:avLst>
              <a:gd name="adj" fmla="val 52628"/>
            </a:avLst>
          </a:prstGeom>
          <a:solidFill>
            <a:srgbClr val="F0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1429207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0160" y="1571854"/>
            <a:ext cx="9073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통계청 베테랑 직원들의 머릿속에만 있던 예외 처리 노하우, 즉 '암묵지'가 메타데이터로 기록됩니다 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48265" y="1591056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지원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1619402"/>
            <a:ext cx="15270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24305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베테랑 노하우 메타데이터화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52805" y="2952598"/>
            <a:ext cx="2952598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67105" y="3007629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노하우 기록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067105" y="3295498"/>
            <a:ext cx="2724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생산 중 예기치 못한 변수가 생겼을 때의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암묵지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메타데이터로 기록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52805" y="3829507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251814" y="3905402"/>
            <a:ext cx="25402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지식 자산화 완료 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67105" y="3938321"/>
            <a:ext cx="105156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91049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사례 AI 분석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619549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733849" y="3007629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사례 패턴 분석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733849" y="3295498"/>
            <a:ext cx="2724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유사한 상황에서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방식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보정했습니다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19549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956048" y="3733495"/>
            <a:ext cx="25027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패턴 분석 중 </a:t>
            </a:r>
            <a:endParaRPr lang="en-US" sz="10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4733849" y="3767328"/>
            <a:ext cx="142646" cy="1143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858707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의사결정 지원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8287207" y="2952598"/>
            <a:ext cx="2952598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401507" y="3007629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의사결정 제안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01507" y="3295498"/>
            <a:ext cx="2724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과거 메타데이터 이력을 분석하여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의사결정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지원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87207" y="3829507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567014" y="3905402"/>
            <a:ext cx="25594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전문가 수준의 가이드 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401507" y="3938321"/>
            <a:ext cx="85954" cy="1143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52805" y="5400446"/>
            <a:ext cx="2924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암묵지 메타데이터화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4635094" y="5400446"/>
            <a:ext cx="2924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사례 패턴 분석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8318297" y="5400446"/>
            <a:ext cx="2924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해결책 제안</a:t>
            </a:r>
            <a:endParaRPr lang="en-US" sz="105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l="-243" r="-243"/>
          <a:stretch/>
        </p:blipFill>
        <p:spPr>
          <a:xfrm>
            <a:off x="1687982" y="4858207"/>
            <a:ext cx="1457554" cy="42885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2118665" y="4858207"/>
            <a:ext cx="102687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베테랑 노하우 </a:t>
            </a:r>
            <a:endParaRPr lang="en-US" sz="11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t="-556" b="-556"/>
          <a:stretch/>
        </p:blipFill>
        <p:spPr>
          <a:xfrm>
            <a:off x="1878178" y="5009083"/>
            <a:ext cx="123444" cy="142646"/>
          </a:xfrm>
          <a:prstGeom prst="rect">
            <a:avLst/>
          </a:prstGeom>
        </p:spPr>
      </p:pic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168750" y="5014570"/>
            <a:ext cx="171907" cy="190195"/>
          </a:xfrm>
          <a:prstGeom prst="rect">
            <a:avLst/>
          </a:prstGeom>
        </p:spPr>
      </p:pic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319" r="-319"/>
          <a:stretch/>
        </p:blipFill>
        <p:spPr>
          <a:xfrm>
            <a:off x="5556809" y="4858207"/>
            <a:ext cx="1086307" cy="42885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006694" y="4858207"/>
            <a:ext cx="63642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분석 </a:t>
            </a:r>
            <a:endParaRPr lang="en-US" sz="11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47004" y="5009083"/>
            <a:ext cx="142646" cy="142646"/>
          </a:xfrm>
          <a:prstGeom prst="rect">
            <a:avLst/>
          </a:prstGeom>
        </p:spPr>
      </p:pic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7851953" y="5014570"/>
            <a:ext cx="171907" cy="190195"/>
          </a:xfrm>
          <a:prstGeom prst="rect">
            <a:avLst/>
          </a:prstGeom>
        </p:spPr>
      </p:pic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 l="-244" r="-244"/>
          <a:stretch/>
        </p:blipFill>
        <p:spPr>
          <a:xfrm>
            <a:off x="9044330" y="4858207"/>
            <a:ext cx="1476756" cy="428854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494215" y="4858207"/>
            <a:ext cx="102687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의사결정 지원 </a:t>
            </a:r>
            <a:endParaRPr lang="en-US" sz="11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235440" y="5009083"/>
            <a:ext cx="142646" cy="142646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952805" y="2381098"/>
            <a:ext cx="476402" cy="47640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6"/>
          <a:srcRect l="-57" r="-57"/>
          <a:stretch/>
        </p:blipFill>
        <p:spPr>
          <a:xfrm>
            <a:off x="1090879" y="2505456"/>
            <a:ext cx="200254" cy="228600"/>
          </a:xfrm>
          <a:prstGeom prst="rect">
            <a:avLst/>
          </a:prstGeom>
        </p:spPr>
      </p:pic>
      <p:sp>
        <p:nvSpPr>
          <p:cNvPr id="55" name="Shape 39"/>
          <p:cNvSpPr/>
          <p:nvPr/>
        </p:nvSpPr>
        <p:spPr>
          <a:xfrm>
            <a:off x="4619549" y="2381098"/>
            <a:ext cx="476402" cy="4764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743907" y="2505456"/>
            <a:ext cx="228600" cy="228600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>
            <a:off x="8287207" y="2381098"/>
            <a:ext cx="476402" cy="47640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410651" y="250545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46719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4572000"/>
            <a:ext cx="10705795" cy="1752905"/>
          </a:xfrm>
          <a:prstGeom prst="roundRect">
            <a:avLst>
              <a:gd name="adj" fmla="val 4536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29354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6098" y="2190902"/>
            <a:ext cx="3372307" cy="2229307"/>
          </a:xfrm>
          <a:prstGeom prst="roundRect">
            <a:avLst>
              <a:gd name="adj" fmla="val 420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3] 데이터 입수 장애 시 대안 자동 제안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온톨로지 지식망을 통해 스스로 우회 경로를 찾는 자율형 데이터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1695" y="1429207"/>
            <a:ext cx="10668305" cy="514807"/>
          </a:xfrm>
          <a:prstGeom prst="roundRect">
            <a:avLst>
              <a:gd name="adj" fmla="val 52628"/>
            </a:avLst>
          </a:prstGeom>
          <a:solidFill>
            <a:srgbClr val="F0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1429207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0160" y="1571854"/>
            <a:ext cx="9073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오류로 특정 행정 자료 입수가 불가능할 때, AI가 자동으로 대체 경로를 제안합니다 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48265" y="1591056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자율형 데이터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1619402"/>
            <a:ext cx="15270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24305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입수 장애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52805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67105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국세청 특정 행정 자료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067105" y="3295498"/>
            <a:ext cx="2724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오류로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입수 불가능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상황 발생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52805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260958" y="3733495"/>
            <a:ext cx="25310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 공표 지연 위험 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7105" y="3767328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91049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지식망 탐색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619549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733849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지식망 분석 중...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733849" y="3295498"/>
            <a:ext cx="2724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지식망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순식간에 탐색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19549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927702" y="3733495"/>
            <a:ext cx="25310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관련 변수 탐색 중 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33849" y="3767328"/>
            <a:ext cx="114300" cy="1143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858707" y="2428646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경로 제안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8287207" y="2952598"/>
            <a:ext cx="2952598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401507" y="3066898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국민연금 B + 건강보험 C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01507" y="3295498"/>
            <a:ext cx="2724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의미의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추정이 가능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대체 경로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87207" y="3657600"/>
            <a:ext cx="2952598" cy="314554"/>
          </a:xfrm>
          <a:prstGeom prst="roundRect">
            <a:avLst>
              <a:gd name="adj" fmla="val 10570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567014" y="3733495"/>
            <a:ext cx="25594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우회 경로 자동 제안 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401507" y="3767328"/>
            <a:ext cx="85954" cy="1143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52805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국세청 자료 입수 불가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3666744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지식망 분석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6381598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우회 경로 자동 생성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9096451" y="5400446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공표 정상화</a:t>
            </a:r>
            <a:endParaRPr lang="en-US" sz="10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123" r="-123"/>
          <a:stretch/>
        </p:blipFill>
        <p:spPr>
          <a:xfrm>
            <a:off x="1440180" y="4858207"/>
            <a:ext cx="1171346" cy="42885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851660" y="4858207"/>
            <a:ext cx="76078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장애 발생 </a:t>
            </a:r>
            <a:endParaRPr lang="en-US" sz="11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870" b="-870"/>
          <a:stretch/>
        </p:blipFill>
        <p:spPr>
          <a:xfrm>
            <a:off x="1630375" y="5009083"/>
            <a:ext cx="105156" cy="142646"/>
          </a:xfrm>
          <a:prstGeom prst="rect">
            <a:avLst/>
          </a:prstGeom>
        </p:spPr>
      </p:pic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 l="-319" r="-319"/>
          <a:stretch/>
        </p:blipFill>
        <p:spPr>
          <a:xfrm>
            <a:off x="4198925" y="4858207"/>
            <a:ext cx="1086307" cy="42885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4648810" y="4858207"/>
            <a:ext cx="63642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탐색 </a:t>
            </a:r>
            <a:endParaRPr lang="en-US" sz="11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390034" y="5009083"/>
            <a:ext cx="142646" cy="142646"/>
          </a:xfrm>
          <a:prstGeom prst="rect">
            <a:avLst/>
          </a:prstGeom>
        </p:spPr>
      </p:pic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l="-127" r="-127"/>
          <a:stretch/>
        </p:blipFill>
        <p:spPr>
          <a:xfrm>
            <a:off x="6859829" y="4858207"/>
            <a:ext cx="1190549" cy="428854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290511" y="4858207"/>
            <a:ext cx="76078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대안 제안 </a:t>
            </a:r>
            <a:endParaRPr lang="en-US" sz="11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3"/>
          <a:srcRect t="-556" b="-556"/>
          <a:stretch/>
        </p:blipFill>
        <p:spPr>
          <a:xfrm>
            <a:off x="7050024" y="5009083"/>
            <a:ext cx="123444" cy="142646"/>
          </a:xfrm>
          <a:prstGeom prst="rect">
            <a:avLst/>
          </a:prstGeom>
        </p:spPr>
      </p:pic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 l="-131" r="-131"/>
          <a:stretch/>
        </p:blipFill>
        <p:spPr>
          <a:xfrm>
            <a:off x="9564624" y="4858207"/>
            <a:ext cx="1209751" cy="428854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10014509" y="4858207"/>
            <a:ext cx="75986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공표 완료 </a:t>
            </a:r>
            <a:endParaRPr lang="en-US" sz="11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755734" y="5009083"/>
            <a:ext cx="142646" cy="142646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3295498" y="4947818"/>
            <a:ext cx="171907" cy="190195"/>
          </a:xfrm>
          <a:prstGeom prst="rect">
            <a:avLst/>
          </a:prstGeom>
        </p:spPr>
      </p:pic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rcRect l="-1648" r="-1648"/>
          <a:stretch/>
        </p:blipFill>
        <p:spPr>
          <a:xfrm>
            <a:off x="6010351" y="4947818"/>
            <a:ext cx="171907" cy="190195"/>
          </a:xfrm>
          <a:prstGeom prst="rect">
            <a:avLst/>
          </a:prstGeom>
        </p:spPr>
      </p:pic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8"/>
          <a:srcRect l="-1648" r="-1648"/>
          <a:stretch/>
        </p:blipFill>
        <p:spPr>
          <a:xfrm>
            <a:off x="8725205" y="4947818"/>
            <a:ext cx="171907" cy="190195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952805" y="2381098"/>
            <a:ext cx="476402" cy="47640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76249" y="2505456"/>
            <a:ext cx="228600" cy="228600"/>
          </a:xfrm>
          <a:prstGeom prst="rect">
            <a:avLst/>
          </a:prstGeom>
        </p:spPr>
      </p:pic>
      <p:sp>
        <p:nvSpPr>
          <p:cNvPr id="60" name="Shape 41"/>
          <p:cNvSpPr/>
          <p:nvPr/>
        </p:nvSpPr>
        <p:spPr>
          <a:xfrm>
            <a:off x="4619549" y="2381098"/>
            <a:ext cx="476402" cy="4764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20"/>
          <a:srcRect l="-80" r="-80"/>
          <a:stretch/>
        </p:blipFill>
        <p:spPr>
          <a:xfrm>
            <a:off x="4714646" y="2505456"/>
            <a:ext cx="286207" cy="228600"/>
          </a:xfrm>
          <a:prstGeom prst="rect">
            <a:avLst/>
          </a:prstGeom>
        </p:spPr>
      </p:pic>
      <p:sp>
        <p:nvSpPr>
          <p:cNvPr id="62" name="Shape 42"/>
          <p:cNvSpPr/>
          <p:nvPr/>
        </p:nvSpPr>
        <p:spPr>
          <a:xfrm>
            <a:off x="8287207" y="2381098"/>
            <a:ext cx="476402" cy="47640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410651" y="250545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05256" y="1857146"/>
            <a:ext cx="4895698" cy="1609344"/>
          </a:xfrm>
          <a:prstGeom prst="roundRect">
            <a:avLst>
              <a:gd name="adj" fmla="val 5379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4] 이 데이터들, 마음대로 섞어도 될까요?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기관의 데이터셋을 합치려 할 때 발생하는 치명적 분석 오류 위험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67105" y="1429207"/>
            <a:ext cx="4838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데이터셋 합치기 시도 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412" b="-1412"/>
          <a:stretch/>
        </p:blipFill>
        <p:spPr>
          <a:xfrm>
            <a:off x="761695" y="1481328"/>
            <a:ext cx="161849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5451" y="2000707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고용부 데이터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95451" y="2238451"/>
            <a:ext cx="2238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15세 이상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5451" y="2533802"/>
            <a:ext cx="2238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모집단 기준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333902" y="2000707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데이터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333902" y="2238451"/>
            <a:ext cx="2238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15-64세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333902" y="2533802"/>
            <a:ext cx="2238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모집단 기준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095451" y="2800807"/>
            <a:ext cx="4476902" cy="371246"/>
          </a:xfrm>
          <a:prstGeom prst="roundRect">
            <a:avLst>
              <a:gd name="adj" fmla="val 7578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390802" y="2895905"/>
            <a:ext cx="48417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모집단 기준 불일치</a:t>
            </a: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연구자가 두 데이터를 마음대로 섞어 분석하려 할 때 발생 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0549" y="2920594"/>
            <a:ext cx="123444" cy="1234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61695" y="3571646"/>
            <a:ext cx="5143500" cy="705002"/>
          </a:xfrm>
          <a:prstGeom prst="roundRect">
            <a:avLst>
              <a:gd name="adj" fmla="val 28044"/>
            </a:avLst>
          </a:prstGeom>
          <a:solidFill>
            <a:srgbClr val="FEF2F2"/>
          </a:solidFill>
          <a:ln/>
        </p:spPr>
      </p:sp>
      <p:sp>
        <p:nvSpPr>
          <p:cNvPr id="23" name="Shape 18"/>
          <p:cNvSpPr/>
          <p:nvPr/>
        </p:nvSpPr>
        <p:spPr>
          <a:xfrm>
            <a:off x="761695" y="3571646"/>
            <a:ext cx="38405" cy="705002"/>
          </a:xfrm>
          <a:prstGeom prst="roundRect">
            <a:avLst>
              <a:gd name="adj" fmla="val 51479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211580" y="3685946"/>
            <a:ext cx="4580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모집단 기준 불일치 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" y="3962095"/>
            <a:ext cx="53026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 지표는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15세 이상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기준이고, B 지표는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15~64세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기준이라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비교하면 안 됩니다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1695" y="4417466"/>
            <a:ext cx="5143500" cy="705002"/>
          </a:xfrm>
          <a:prstGeom prst="roundRect">
            <a:avLst>
              <a:gd name="adj" fmla="val 28044"/>
            </a:avLst>
          </a:prstGeom>
          <a:solidFill>
            <a:srgbClr val="FFF7ED"/>
          </a:solidFill>
          <a:ln/>
        </p:spPr>
      </p:sp>
      <p:sp>
        <p:nvSpPr>
          <p:cNvPr id="27" name="Shape 22"/>
          <p:cNvSpPr/>
          <p:nvPr/>
        </p:nvSpPr>
        <p:spPr>
          <a:xfrm>
            <a:off x="761695" y="4417466"/>
            <a:ext cx="38405" cy="705002"/>
          </a:xfrm>
          <a:prstGeom prst="roundRect">
            <a:avLst>
              <a:gd name="adj" fmla="val 51479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173175" y="4531766"/>
            <a:ext cx="46186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시점 차이 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4807915"/>
            <a:ext cx="5079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수집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시점이 다르거나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주기가 일치하지 않아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 오류가 발생합니다. 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61695" y="5263286"/>
            <a:ext cx="5143500" cy="705002"/>
          </a:xfrm>
          <a:prstGeom prst="roundRect">
            <a:avLst>
              <a:gd name="adj" fmla="val 28044"/>
            </a:avLst>
          </a:prstGeom>
          <a:solidFill>
            <a:srgbClr val="F0FDF4"/>
          </a:solidFill>
          <a:ln/>
        </p:spPr>
      </p:sp>
      <p:sp>
        <p:nvSpPr>
          <p:cNvPr id="31" name="Shape 26"/>
          <p:cNvSpPr/>
          <p:nvPr/>
        </p:nvSpPr>
        <p:spPr>
          <a:xfrm>
            <a:off x="761695" y="5263286"/>
            <a:ext cx="38405" cy="705002"/>
          </a:xfrm>
          <a:prstGeom prst="roundRect">
            <a:avLst>
              <a:gd name="adj" fmla="val 514798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135685" y="5377586"/>
            <a:ext cx="4656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 필요 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914400" y="5653735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자동 매핑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 코드와 단위를 자동으로 통일해줘야 합니다. </a:t>
            </a: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769" r="-769"/>
          <a:stretch/>
        </p:blipFill>
        <p:spPr>
          <a:xfrm>
            <a:off x="914400" y="3723437"/>
            <a:ext cx="181051" cy="142646"/>
          </a:xfrm>
          <a:prstGeom prst="rect">
            <a:avLst/>
          </a:prstGeom>
        </p:spPr>
      </p:pic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569257"/>
            <a:ext cx="142646" cy="142646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t="-870" b="-870"/>
          <a:stretch/>
        </p:blipFill>
        <p:spPr>
          <a:xfrm>
            <a:off x="914400" y="5415077"/>
            <a:ext cx="105156" cy="14264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58914" y="1429207"/>
            <a:ext cx="45710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-37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데이터 사이언티스트 </a:t>
            </a:r>
            <a:endParaRPr lang="en-US" sz="16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1481328"/>
            <a:ext cx="237744" cy="19019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6572707" y="2000707"/>
            <a:ext cx="4762195" cy="1076249"/>
          </a:xfrm>
          <a:prstGeom prst="roundRect">
            <a:avLst>
              <a:gd name="adj" fmla="val 12030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7006133" y="2162556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의미 기반 자동 매핑 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6734556" y="2486254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분석가가 두 데이터를 올리면 시스템이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메타데이터를 즉각 분석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서로 다른 기관에서 쓰던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코드나 단위를 자동으로 통일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줍니다. 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572707" y="3265322"/>
            <a:ext cx="4762195" cy="1076249"/>
          </a:xfrm>
          <a:prstGeom prst="roundRect">
            <a:avLst>
              <a:gd name="adj" fmla="val 1203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006133" y="3427171"/>
            <a:ext cx="4167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유의사항 분석 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6734556" y="3750869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 지표는 15세 이상 기준이고, B 지표는 15~64세 기준이라 직접 비교하면 안 됩니다"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경고합니다. 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572707" y="4529938"/>
            <a:ext cx="4762195" cy="1295705"/>
          </a:xfrm>
          <a:prstGeom prst="roundRect">
            <a:avLst>
              <a:gd name="adj" fmla="val 8303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6967728" y="4692701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전문가적 대안 제시 </a:t>
            </a:r>
            <a:endParaRPr lang="en-US" sz="1400" dirty="0"/>
          </a:p>
        </p:txBody>
      </p:sp>
      <p:sp>
        <p:nvSpPr>
          <p:cNvPr id="47" name="Text 38"/>
          <p:cNvSpPr txBox="1"/>
          <p:nvPr/>
        </p:nvSpPr>
        <p:spPr>
          <a:xfrm>
            <a:off x="6734556" y="5016398"/>
            <a:ext cx="44394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단순히 안 된다고 끝나는 것이 아니라,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"대신 X 비율의 가중치를 주어 보정하거나, Y라는 대체 지표를 사용하십시오"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라며 데이터 전문가 수준의 깊이 있는 분석 대안을 제시합니다. </a:t>
            </a:r>
            <a:endParaRPr lang="en-US" sz="105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34556" y="2210105"/>
            <a:ext cx="152705" cy="152705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34556" y="3474720"/>
            <a:ext cx="152705" cy="152705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6734556" y="4740250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2704795" cy="53721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29000" y="1238098"/>
            <a:ext cx="82296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305" y="5143500"/>
            <a:ext cx="7848295" cy="847649"/>
          </a:xfrm>
          <a:prstGeom prst="roundRect">
            <a:avLst>
              <a:gd name="adj" fmla="val 19393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0305" y="1904695"/>
            <a:ext cx="1886407" cy="1410005"/>
          </a:xfrm>
          <a:prstGeom prst="roundRect">
            <a:avLst>
              <a:gd name="adj" fmla="val 7011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86500" y="1904695"/>
            <a:ext cx="1886407" cy="1410005"/>
          </a:xfrm>
          <a:prstGeom prst="roundRect">
            <a:avLst>
              <a:gd name="adj" fmla="val 7011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62695" y="1904695"/>
            <a:ext cx="1886407" cy="1410005"/>
          </a:xfrm>
          <a:prstGeom prst="roundRect">
            <a:avLst>
              <a:gd name="adj" fmla="val 7011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10305" y="3524098"/>
            <a:ext cx="6838798" cy="1410005"/>
          </a:xfrm>
          <a:prstGeom prst="roundRect">
            <a:avLst>
              <a:gd name="adj" fmla="val 7011"/>
            </a:avLst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67451" y="2523744"/>
            <a:ext cx="476402" cy="3840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96305" y="2476195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8143646" y="2523744"/>
            <a:ext cx="476402" cy="384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572500" y="2476195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4: 의미 기반 자동 매핑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기관의 데이터셋을 자동으로 통합하는 전처리 자동화 프로세스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057046" y="1429207"/>
            <a:ext cx="19906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통합 과제 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61695" y="1819656"/>
            <a:ext cx="2286000" cy="1238098"/>
          </a:xfrm>
          <a:prstGeom prst="roundRect">
            <a:avLst>
              <a:gd name="adj" fmla="val 1161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5995" y="1933956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데이터 불일치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75995" y="2200046"/>
            <a:ext cx="20574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서로 다른 기관 코드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단위/시점 불일치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모집단 기준 차이 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61695" y="3395168"/>
            <a:ext cx="2286000" cy="1354632"/>
          </a:xfrm>
          <a:prstGeom prst="roundRect">
            <a:avLst>
              <a:gd name="adj" fmla="val 11614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5995" y="3509468"/>
            <a:ext cx="2057400" cy="23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자동화 해결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5995" y="3776473"/>
            <a:ext cx="2057400" cy="7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의미 기반 매핑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코드/단위 통일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전처리 자동화 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761695" y="1478585"/>
            <a:ext cx="152705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619195" y="1429207"/>
            <a:ext cx="7810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</a:t>
            </a:r>
            <a:r>
              <a:rPr lang="en-US" sz="1500" b="1" kern="0" spc="-37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 기반 자동 매핑 프로세스 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3829507" y="2523744"/>
            <a:ext cx="1810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데이터셋 업로드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3829507" y="2752344"/>
            <a:ext cx="1810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고용부/통계청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업로드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305702" y="2523744"/>
            <a:ext cx="1810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메타데이터 분석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6305702" y="2752344"/>
            <a:ext cx="1810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구조/단위/시점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 분석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8781898" y="2523744"/>
            <a:ext cx="1810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코드/단위 통일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8781898" y="2752344"/>
            <a:ext cx="1810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매핑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변환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3877056" y="4143146"/>
            <a:ext cx="6667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통합 데이터셋 생성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3877056" y="4410151"/>
            <a:ext cx="6667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매핑 완료 → 코드/단위 자동 통일 → 통합 데이터셋 생성 → 분석 준비 완료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4000500" y="5379283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처리 속도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4000500" y="561794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대비 90% 감소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5857646" y="5379283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정확성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5857646" y="561794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매핑 99.5%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7715707" y="5379283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비용 절감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7715707" y="561794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시간 95% 감소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9572854" y="5379283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자동화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9572854" y="561794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작업 불필요</a:t>
            </a:r>
            <a:endParaRPr lang="en-US" sz="105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l="-27" r="-27"/>
          <a:stretch/>
        </p:blipFill>
        <p:spPr>
          <a:xfrm>
            <a:off x="4543654" y="2095805"/>
            <a:ext cx="428854" cy="342900"/>
          </a:xfrm>
          <a:prstGeom prst="rect">
            <a:avLst/>
          </a:prstGeom>
        </p:spPr>
      </p:pic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19849" y="2095805"/>
            <a:ext cx="342900" cy="342900"/>
          </a:xfrm>
          <a:prstGeom prst="rect">
            <a:avLst/>
          </a:prstGeom>
        </p:spPr>
      </p:pic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96044" y="2095805"/>
            <a:ext cx="342900" cy="342900"/>
          </a:xfrm>
          <a:prstGeom prst="rect">
            <a:avLst/>
          </a:prstGeom>
        </p:spPr>
      </p:pic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19849" y="3715207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562295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0" y="1238098"/>
            <a:ext cx="5372100" cy="537210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52805" y="1904695"/>
            <a:ext cx="4839005" cy="1848002"/>
          </a:xfrm>
          <a:prstGeom prst="roundRect">
            <a:avLst>
              <a:gd name="adj" fmla="val 4081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" y="1901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[시나리오 4] 전문가 수준의 분석 가이던스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766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데이터 분석가들에게 전문가 수준의 분석 대안과 가이던스를 제공합니다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6366" y="1429207"/>
            <a:ext cx="48088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상황: 직접 비교 불가 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48132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667" y="2048256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지표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456978" y="2286000"/>
            <a:ext cx="6208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15세+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35947" y="2638044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전국민 기준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830982" y="2495398"/>
            <a:ext cx="8046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비교 불가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4513916" y="2048256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지표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455394" y="2286000"/>
            <a:ext cx="8887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15-64세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513916" y="2638044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경제활동인구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143000" y="2991002"/>
            <a:ext cx="4381805" cy="390449"/>
          </a:xfrm>
          <a:prstGeom prst="roundRect">
            <a:avLst>
              <a:gd name="adj" fmla="val 6854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620317" y="3086100"/>
            <a:ext cx="44183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모집단 기준이 달라</a:t>
            </a: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직접 비교하면 </a:t>
            </a: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치명적인 분석 오류</a:t>
            </a: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발생합니다. 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3132734" y="2200046"/>
            <a:ext cx="200254" cy="228600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10919" y="3120847"/>
            <a:ext cx="133502" cy="13350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61695" y="3905402"/>
            <a:ext cx="5143500" cy="990295"/>
          </a:xfrm>
          <a:prstGeom prst="roundRect">
            <a:avLst>
              <a:gd name="adj" fmla="val 14206"/>
            </a:avLst>
          </a:prstGeom>
          <a:solidFill>
            <a:srgbClr val="FEF2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61695" y="3905402"/>
            <a:ext cx="38405" cy="990295"/>
          </a:xfrm>
          <a:prstGeom prst="roundRect">
            <a:avLst>
              <a:gd name="adj" fmla="val 36629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201522" y="4048049"/>
            <a:ext cx="4561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 데이터들, 마음대로 섞어도 될까요?" 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42746" y="4324198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연구자들이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고용부 데이터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데이터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마음대로 섞어 분석하려 할 때,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모집단의 기준이나 시점이 달라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치명적인 분석 오류가 발생할 수 있습니다. 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61695" y="5036515"/>
            <a:ext cx="5143500" cy="780898"/>
          </a:xfrm>
          <a:prstGeom prst="roundRect">
            <a:avLst>
              <a:gd name="adj" fmla="val 22848"/>
            </a:avLst>
          </a:prstGeom>
          <a:solidFill>
            <a:srgbClr val="F0FDF4"/>
          </a:solidFill>
          <a:ln/>
        </p:spPr>
      </p:sp>
      <p:sp>
        <p:nvSpPr>
          <p:cNvPr id="29" name="Shape 23"/>
          <p:cNvSpPr/>
          <p:nvPr/>
        </p:nvSpPr>
        <p:spPr>
          <a:xfrm>
            <a:off x="761695" y="5036515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164031" y="5180076"/>
            <a:ext cx="45985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 필요 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942746" y="5456225"/>
            <a:ext cx="48198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유의사항을 분석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전문가적 대안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제시해야 합니다. 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2746" y="4084625"/>
            <a:ext cx="142646" cy="142646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870" b="-870"/>
          <a:stretch/>
        </p:blipFill>
        <p:spPr>
          <a:xfrm>
            <a:off x="942746" y="5216652"/>
            <a:ext cx="105156" cy="14264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1366" y="1429207"/>
            <a:ext cx="46186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전문가 수준의 분석 가이던스 </a:t>
            </a:r>
            <a:endParaRPr lang="en-US" sz="15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1481328"/>
            <a:ext cx="190195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72707" y="1904695"/>
            <a:ext cx="4762195" cy="1152144"/>
          </a:xfrm>
          <a:prstGeom prst="roundRect">
            <a:avLst>
              <a:gd name="adj" fmla="val 10495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071970" y="2095805"/>
            <a:ext cx="4072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유의사항 분석 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6762902" y="2419502"/>
            <a:ext cx="4381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 지표는 15세 이상 기준이고, B 지표는 15~64세 기준이라 직접 비교하면 안 됩니다"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 경고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572707" y="3223260"/>
            <a:ext cx="4762195" cy="1152144"/>
          </a:xfrm>
          <a:prstGeom prst="roundRect">
            <a:avLst>
              <a:gd name="adj" fmla="val 10495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6996074" y="3413455"/>
            <a:ext cx="4148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가중치 보정 방법 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6762902" y="3738067"/>
            <a:ext cx="4381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"대신 X 비율의 가중치를 주어 보정하거나"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라며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보정 방법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제시합니다. 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572707" y="4541825"/>
            <a:ext cx="4762195" cy="1152144"/>
          </a:xfrm>
          <a:prstGeom prst="roundRect">
            <a:avLst>
              <a:gd name="adj" fmla="val 10495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034479" y="4732020"/>
            <a:ext cx="4110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대체 지표 추천 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762902" y="5055718"/>
            <a:ext cx="4381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"Y라는 대체 지표를 사용하십시오"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라며 </a:t>
            </a: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전문가 수준의 깊이 있는 분석 대안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제시합니다. </a:t>
            </a:r>
            <a:endParaRPr lang="en-US" sz="10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762902" y="2143354"/>
            <a:ext cx="190195" cy="152705"/>
          </a:xfrm>
          <a:prstGeom prst="rect">
            <a:avLst/>
          </a:prstGeom>
        </p:spPr>
      </p:pic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6762902" y="3461004"/>
            <a:ext cx="114300" cy="152705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62902" y="4779569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46719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4381805"/>
            <a:ext cx="10705795" cy="2133295"/>
          </a:xfrm>
          <a:prstGeom prst="roundRect">
            <a:avLst>
              <a:gd name="adj" fmla="val 3062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2190902"/>
            <a:ext cx="2514600" cy="2038198"/>
          </a:xfrm>
          <a:prstGeom prst="roundRect">
            <a:avLst>
              <a:gd name="adj" fmla="val 5031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2190902"/>
            <a:ext cx="2514600" cy="2038198"/>
          </a:xfrm>
          <a:prstGeom prst="roundRect">
            <a:avLst>
              <a:gd name="adj" fmla="val 5031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305" y="2190902"/>
            <a:ext cx="2514600" cy="2038198"/>
          </a:xfrm>
          <a:prstGeom prst="roundRect">
            <a:avLst>
              <a:gd name="adj" fmla="val 5031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62695" y="2190902"/>
            <a:ext cx="2514600" cy="2038198"/>
          </a:xfrm>
          <a:prstGeom prst="roundRect">
            <a:avLst>
              <a:gd name="adj" fmla="val 5031"/>
            </a:avLst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8805" y="3191256"/>
            <a:ext cx="190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3143707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5905195" y="3191256"/>
            <a:ext cx="190195" cy="38405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6305" y="3143707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2500" y="3191256"/>
            <a:ext cx="19019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62695" y="3143707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1500" y="34781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인프라의 완성: 신뢰할 수 있는 데이터 관측소 (TDO-KR)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761695" y="1429207"/>
            <a:ext cx="10668305" cy="514807"/>
          </a:xfrm>
          <a:prstGeom prst="roundRect">
            <a:avLst>
              <a:gd name="adj" fmla="val 52628"/>
            </a:avLst>
          </a:prstGeom>
          <a:solidFill>
            <a:srgbClr val="F0F9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1695" y="1429207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99362" y="1571854"/>
            <a:ext cx="9244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TDO-KR 인프라 구조: 데이터 수집 → 처리 → 검증 → 공급의 4단계 파이프라인 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541203" y="1591056"/>
            <a:ext cx="705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AI-Ready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990295" y="1619402"/>
            <a:ext cx="171907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429207" y="24286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52805" y="2905049"/>
            <a:ext cx="209580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253642" y="3019349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LOD (Linked Open Data) 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253642" y="321777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SPARQL Endpoint 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253642" y="341528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RDF/TTL 형식 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1067105" y="3054096"/>
            <a:ext cx="105156" cy="123444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1067105" y="3251606"/>
            <a:ext cx="105156" cy="123444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1067105" y="3450031"/>
            <a:ext cx="105156" cy="1234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095598" y="24286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3619195" y="2905049"/>
            <a:ext cx="209580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920033" y="3019349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분석 엔진 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3920033" y="321777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메타데이터 추출 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3920033" y="341528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품질 검증 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3733495" y="3054096"/>
            <a:ext cx="105156" cy="123444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3733495" y="3251606"/>
            <a:ext cx="105156" cy="123444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3733495" y="3450031"/>
            <a:ext cx="105156" cy="1234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62902" y="24286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통합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6286500" y="2905049"/>
            <a:ext cx="209580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6587338" y="3019349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Adapter 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6587338" y="321777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연동 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587338" y="341528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추론 엔진 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6400800" y="3054096"/>
            <a:ext cx="105156" cy="123444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6400800" y="3251606"/>
            <a:ext cx="105156" cy="123444"/>
          </a:xfrm>
          <a:prstGeom prst="rect">
            <a:avLst/>
          </a:prstGeom>
        </p:spPr>
      </p:pic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6400800" y="3450031"/>
            <a:ext cx="105156" cy="123444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9430207" y="24286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공급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8953805" y="2905049"/>
            <a:ext cx="2095805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9254642" y="3019349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Trusted Portal 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9254642" y="321777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Gateway 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9254642" y="3415284"/>
            <a:ext cx="1680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검증 </a:t>
            </a:r>
            <a:endParaRPr lang="en-US" sz="10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9068105" y="3054096"/>
            <a:ext cx="105156" cy="123444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9068105" y="3251606"/>
            <a:ext cx="105156" cy="123444"/>
          </a:xfrm>
          <a:prstGeom prst="rect">
            <a:avLst/>
          </a:prstGeom>
        </p:spPr>
      </p:pic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9068105" y="3450031"/>
            <a:ext cx="105156" cy="123444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1242670" y="4572000"/>
            <a:ext cx="9454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흐름: 수집 → 처리 → AI 분석 → 검증 → 공급 </a:t>
            </a:r>
            <a:endParaRPr lang="en-US" sz="1400" dirty="0"/>
          </a:p>
        </p:txBody>
      </p:sp>
      <p:sp>
        <p:nvSpPr>
          <p:cNvPr id="58" name="Text 42"/>
          <p:cNvSpPr txBox="1"/>
          <p:nvPr/>
        </p:nvSpPr>
        <p:spPr>
          <a:xfrm>
            <a:off x="1333195" y="5600700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 데이터</a:t>
            </a:r>
            <a:endParaRPr lang="en-US" sz="1000" dirty="0"/>
          </a:p>
        </p:txBody>
      </p:sp>
      <p:sp>
        <p:nvSpPr>
          <p:cNvPr id="59" name="Text 43"/>
          <p:cNvSpPr txBox="1"/>
          <p:nvPr/>
        </p:nvSpPr>
        <p:spPr>
          <a:xfrm>
            <a:off x="3857854" y="5600700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추출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6381598" y="5600700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추론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906256" y="5600700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데이터</a:t>
            </a:r>
            <a:endParaRPr lang="en-US" sz="100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805" y="4619549"/>
            <a:ext cx="152705" cy="152705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10695737" y="4581144"/>
            <a:ext cx="552298" cy="237744"/>
          </a:xfrm>
          <a:prstGeom prst="roundRect">
            <a:avLst>
              <a:gd name="adj" fmla="val 38461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7"/>
          <p:cNvSpPr/>
          <p:nvPr/>
        </p:nvSpPr>
        <p:spPr>
          <a:xfrm>
            <a:off x="10634133" y="4581144"/>
            <a:ext cx="61481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</a:t>
            </a:r>
            <a:endParaRPr lang="en-US" sz="100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7"/>
          <a:srcRect l="-223" r="-223"/>
          <a:stretch/>
        </p:blipFill>
        <p:spPr>
          <a:xfrm>
            <a:off x="1858975" y="5086807"/>
            <a:ext cx="905256" cy="418795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2286914" y="5086807"/>
            <a:ext cx="47731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수집 </a:t>
            </a:r>
            <a:endParaRPr lang="en-US" sz="1050" dirty="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2087575" y="5236769"/>
            <a:ext cx="114300" cy="133502"/>
          </a:xfrm>
          <a:prstGeom prst="rect">
            <a:avLst/>
          </a:prstGeom>
        </p:spPr>
      </p:pic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3486607" y="5333695"/>
            <a:ext cx="171907" cy="190195"/>
          </a:xfrm>
          <a:prstGeom prst="rect">
            <a:avLst/>
          </a:prstGeom>
        </p:spPr>
      </p:pic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0"/>
          <a:srcRect l="-188" r="-188"/>
          <a:stretch/>
        </p:blipFill>
        <p:spPr>
          <a:xfrm>
            <a:off x="4354373" y="5086807"/>
            <a:ext cx="961949" cy="41879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4839005" y="5086807"/>
            <a:ext cx="47823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 </a:t>
            </a:r>
            <a:endParaRPr lang="en-US" sz="1050" dirty="0"/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582973" y="5236769"/>
            <a:ext cx="171907" cy="133502"/>
          </a:xfrm>
          <a:prstGeom prst="rect">
            <a:avLst/>
          </a:prstGeom>
        </p:spPr>
      </p:pic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6010351" y="5333695"/>
            <a:ext cx="171907" cy="190195"/>
          </a:xfrm>
          <a:prstGeom prst="rect">
            <a:avLst/>
          </a:prstGeom>
        </p:spPr>
      </p:pic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13"/>
          <a:srcRect l="-92" r="-92"/>
          <a:stretch/>
        </p:blipFill>
        <p:spPr>
          <a:xfrm>
            <a:off x="6815023" y="5086807"/>
            <a:ext cx="1086307" cy="418795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7262165" y="5086807"/>
            <a:ext cx="63916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분석 </a:t>
            </a:r>
            <a:endParaRPr lang="en-US" sz="1050" dirty="0"/>
          </a:p>
        </p:txBody>
      </p:sp>
      <p:pic>
        <p:nvPicPr>
          <p:cNvPr id="75" name="Image 2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043623" y="5236769"/>
            <a:ext cx="133502" cy="133502"/>
          </a:xfrm>
          <a:prstGeom prst="rect">
            <a:avLst/>
          </a:prstGeom>
        </p:spPr>
      </p:pic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8534095" y="5333695"/>
            <a:ext cx="171907" cy="190195"/>
          </a:xfrm>
          <a:prstGeom prst="rect">
            <a:avLst/>
          </a:prstGeom>
        </p:spPr>
      </p:pic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16"/>
          <a:srcRect l="-177" r="-177"/>
          <a:stretch/>
        </p:blipFill>
        <p:spPr>
          <a:xfrm>
            <a:off x="9421978" y="5086807"/>
            <a:ext cx="923544" cy="418795"/>
          </a:xfrm>
          <a:prstGeom prst="rect">
            <a:avLst/>
          </a:prstGeom>
        </p:spPr>
      </p:pic>
      <p:sp>
        <p:nvSpPr>
          <p:cNvPr id="78" name="Text 51"/>
          <p:cNvSpPr txBox="1"/>
          <p:nvPr/>
        </p:nvSpPr>
        <p:spPr>
          <a:xfrm>
            <a:off x="9869119" y="5086807"/>
            <a:ext cx="47731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 </a:t>
            </a:r>
            <a:endParaRPr lang="en-US" sz="1050" dirty="0"/>
          </a:p>
        </p:txBody>
      </p:sp>
      <p:pic>
        <p:nvPicPr>
          <p:cNvPr id="79" name="Image 2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650578" y="5236769"/>
            <a:ext cx="133502" cy="133502"/>
          </a:xfrm>
          <a:prstGeom prst="rect">
            <a:avLst/>
          </a:prstGeom>
        </p:spPr>
      </p:pic>
      <p:sp>
        <p:nvSpPr>
          <p:cNvPr id="80" name="Shape 52"/>
          <p:cNvSpPr/>
          <p:nvPr/>
        </p:nvSpPr>
        <p:spPr>
          <a:xfrm>
            <a:off x="952805" y="2381098"/>
            <a:ext cx="381305" cy="38130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8"/>
          <a:srcRect l="-1648" r="-1648"/>
          <a:stretch/>
        </p:blipFill>
        <p:spPr>
          <a:xfrm>
            <a:off x="1057046" y="2476195"/>
            <a:ext cx="171907" cy="190195"/>
          </a:xfrm>
          <a:prstGeom prst="rect">
            <a:avLst/>
          </a:prstGeom>
        </p:spPr>
      </p:pic>
      <p:sp>
        <p:nvSpPr>
          <p:cNvPr id="82" name="Shape 53"/>
          <p:cNvSpPr/>
          <p:nvPr/>
        </p:nvSpPr>
        <p:spPr>
          <a:xfrm>
            <a:off x="3619195" y="2381098"/>
            <a:ext cx="381305" cy="38130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3" name="Image 2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690518" y="2476195"/>
            <a:ext cx="237744" cy="190195"/>
          </a:xfrm>
          <a:prstGeom prst="rect">
            <a:avLst/>
          </a:prstGeom>
        </p:spPr>
      </p:pic>
      <p:sp>
        <p:nvSpPr>
          <p:cNvPr id="84" name="Shape 54"/>
          <p:cNvSpPr/>
          <p:nvPr/>
        </p:nvSpPr>
        <p:spPr>
          <a:xfrm>
            <a:off x="6286500" y="2381098"/>
            <a:ext cx="381305" cy="38130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2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381598" y="2476195"/>
            <a:ext cx="190195" cy="190195"/>
          </a:xfrm>
          <a:prstGeom prst="rect">
            <a:avLst/>
          </a:prstGeom>
        </p:spPr>
      </p:pic>
      <p:sp>
        <p:nvSpPr>
          <p:cNvPr id="86" name="Shape 55"/>
          <p:cNvSpPr/>
          <p:nvPr/>
        </p:nvSpPr>
        <p:spPr>
          <a:xfrm>
            <a:off x="8953805" y="2381098"/>
            <a:ext cx="381305" cy="381305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7" name="Image 2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9025128" y="2476195"/>
            <a:ext cx="2377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5943600" cy="5372100"/>
          </a:xfrm>
          <a:prstGeom prst="roundRect">
            <a:avLst>
              <a:gd name="adj" fmla="val 72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67805" y="1238098"/>
            <a:ext cx="4990795" cy="5372100"/>
          </a:xfrm>
          <a:prstGeom prst="roundRect">
            <a:avLst>
              <a:gd name="adj" fmla="val 8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29207" y="2000707"/>
            <a:ext cx="1181405" cy="800100"/>
          </a:xfrm>
          <a:prstGeom prst="roundRect">
            <a:avLst>
              <a:gd name="adj" fmla="val 21769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76902" y="2000707"/>
            <a:ext cx="1181405" cy="800100"/>
          </a:xfrm>
          <a:prstGeom prst="roundRect">
            <a:avLst>
              <a:gd name="adj" fmla="val 21769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29207" y="3715207"/>
            <a:ext cx="1181405" cy="800100"/>
          </a:xfrm>
          <a:prstGeom prst="roundRect">
            <a:avLst>
              <a:gd name="adj" fmla="val 21769"/>
            </a:avLst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6902" y="3715207"/>
            <a:ext cx="1181405" cy="800100"/>
          </a:xfrm>
          <a:prstGeom prst="roundRect">
            <a:avLst>
              <a:gd name="adj" fmla="val 21769"/>
            </a:avLst>
          </a:prstGeom>
          <a:solidFill>
            <a:srgbClr val="FCE7F3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4695" y="4953305"/>
            <a:ext cx="3276295" cy="1276502"/>
          </a:xfrm>
          <a:prstGeom prst="roundRect">
            <a:avLst>
              <a:gd name="adj" fmla="val 8553"/>
            </a:avLst>
          </a:prstGeom>
          <a:solidFill>
            <a:srgbClr val="3B82F6">
              <a:alpha val="5000"/>
            </a:srgbClr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 rot="1614387">
            <a:off x="2547680" y="2865160"/>
            <a:ext cx="1398714" cy="56377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 rot="19287523">
            <a:off x="3415306" y="2725131"/>
            <a:ext cx="1208794" cy="48722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 rot="19219639" flipV="1">
            <a:off x="2450048" y="3397911"/>
            <a:ext cx="1134289" cy="45719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 rot="2259066">
            <a:off x="3486939" y="3422904"/>
            <a:ext cx="1134289" cy="45719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7695" y="2572207"/>
            <a:ext cx="1028700" cy="10287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71500" y="237744"/>
            <a:ext cx="11049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확산 계획: 국가 통계를 넘어 국가 데이터 전체로</a:t>
            </a:r>
            <a:endParaRPr lang="en-US" sz="2100" dirty="0"/>
          </a:p>
        </p:txBody>
      </p:sp>
      <p:sp>
        <p:nvSpPr>
          <p:cNvPr id="19" name="Text 11"/>
          <p:cNvSpPr txBox="1"/>
          <p:nvPr/>
        </p:nvSpPr>
        <p:spPr>
          <a:xfrm>
            <a:off x="571500" y="666598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통계청을 넘어 범정부 행정 데이터, 나아가 핵심 민간 데이터까지 지식 그래프로 연결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3047695" y="2905049"/>
            <a:ext cx="952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1429207" y="2095805"/>
            <a:ext cx="1143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범정부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4476902" y="2095805"/>
            <a:ext cx="1143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1429207" y="3810305"/>
            <a:ext cx="1143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4476902" y="3810305"/>
            <a:ext cx="1143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2000707" y="509595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그래프 연결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2952597" y="5453820"/>
            <a:ext cx="3048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통계청 → 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행정기관</a:t>
            </a:r>
            <a:endParaRPr lang="en-US" sz="1000" dirty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행정기관 → 민간기업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데이터 상호 연결 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7297826" y="1429207"/>
            <a:ext cx="41321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국가 데이터 확산 비전 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6858000" y="1971446"/>
            <a:ext cx="4572000" cy="1390802"/>
          </a:xfrm>
          <a:prstGeom prst="roundRect">
            <a:avLst>
              <a:gd name="adj" fmla="val 7205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0" y="1971446"/>
            <a:ext cx="47549" cy="1390802"/>
          </a:xfrm>
          <a:prstGeom prst="roundRect">
            <a:avLst>
              <a:gd name="adj" fmla="val 21074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095744" y="2162556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범정부 행정 데이터 연결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7095744" y="2486254"/>
            <a:ext cx="4144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중심으로 한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데이터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통합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30개 부처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데이터를 지식 그래프로 연결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교환 및 공유 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858000" y="3594506"/>
            <a:ext cx="4572000" cy="1390802"/>
          </a:xfrm>
          <a:prstGeom prst="roundRect">
            <a:avLst>
              <a:gd name="adj" fmla="val 7205"/>
            </a:avLst>
          </a:prstGeom>
          <a:solidFill>
            <a:srgbClr val="F8FAFC"/>
          </a:solidFill>
          <a:ln/>
        </p:spPr>
      </p:sp>
      <p:sp>
        <p:nvSpPr>
          <p:cNvPr id="33" name="Shape 25"/>
          <p:cNvSpPr/>
          <p:nvPr/>
        </p:nvSpPr>
        <p:spPr>
          <a:xfrm>
            <a:off x="6858000" y="3594506"/>
            <a:ext cx="47549" cy="1390802"/>
          </a:xfrm>
          <a:prstGeom prst="roundRect">
            <a:avLst>
              <a:gd name="adj" fmla="val 21074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095744" y="3784702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핵심 민간 데이터 확장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095744" y="4109314"/>
            <a:ext cx="4144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핵심 민간 데이터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연계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 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858000" y="5217566"/>
            <a:ext cx="4572000" cy="1390802"/>
          </a:xfrm>
          <a:prstGeom prst="roundRect">
            <a:avLst>
              <a:gd name="adj" fmla="val 7205"/>
            </a:avLst>
          </a:prstGeom>
          <a:solidFill>
            <a:srgbClr val="F8FAFC"/>
          </a:solidFill>
          <a:ln/>
        </p:spPr>
      </p:sp>
      <p:sp>
        <p:nvSpPr>
          <p:cNvPr id="37" name="Shape 29"/>
          <p:cNvSpPr/>
          <p:nvPr/>
        </p:nvSpPr>
        <p:spPr>
          <a:xfrm>
            <a:off x="6858000" y="5217566"/>
            <a:ext cx="47549" cy="1390802"/>
          </a:xfrm>
          <a:prstGeom prst="roundRect">
            <a:avLst>
              <a:gd name="adj" fmla="val 21074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095744" y="5407762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국가 데이터 인프라 구축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095744" y="5732374"/>
            <a:ext cx="4144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TDO-KR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통한 신뢰성 있는 데이터 제공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메타데이터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05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데이터</a:t>
            </a: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연계 </a:t>
            </a:r>
            <a:endParaRPr lang="en-US" sz="105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 l="-1004" r="-1004"/>
          <a:stretch/>
        </p:blipFill>
        <p:spPr>
          <a:xfrm>
            <a:off x="6858000" y="1493215"/>
            <a:ext cx="267005" cy="2093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46719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5238598"/>
            <a:ext cx="10705795" cy="1276502"/>
          </a:xfrm>
          <a:prstGeom prst="roundRect">
            <a:avLst>
              <a:gd name="adj" fmla="val 8553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2190902"/>
            <a:ext cx="3372307" cy="2895905"/>
          </a:xfrm>
          <a:prstGeom prst="roundRect">
            <a:avLst>
              <a:gd name="adj" fmla="val 2493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29354" y="2190902"/>
            <a:ext cx="3372307" cy="2895905"/>
          </a:xfrm>
          <a:prstGeom prst="roundRect">
            <a:avLst>
              <a:gd name="adj" fmla="val 2493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6098" y="2190902"/>
            <a:ext cx="3372307" cy="2895905"/>
          </a:xfrm>
          <a:prstGeom prst="roundRect">
            <a:avLst>
              <a:gd name="adj" fmla="val 2493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4" b="-14"/>
          <a:stretch/>
        </p:blipFill>
        <p:spPr>
          <a:xfrm>
            <a:off x="761695" y="2190902"/>
            <a:ext cx="3333902" cy="476402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4429354" y="2190902"/>
            <a:ext cx="3333902" cy="47640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8096098" y="2190902"/>
            <a:ext cx="3333902" cy="47640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342" b="-342"/>
          <a:stretch/>
        </p:blipFill>
        <p:spPr>
          <a:xfrm>
            <a:off x="4095598" y="3619195"/>
            <a:ext cx="333756" cy="384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429354" y="3571646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t="-342" b="-342"/>
          <a:stretch/>
        </p:blipFill>
        <p:spPr>
          <a:xfrm>
            <a:off x="7763256" y="3619195"/>
            <a:ext cx="333756" cy="3840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096098" y="3571646"/>
            <a:ext cx="114300" cy="133502"/>
          </a:xfrm>
          <a:custGeom>
            <a:avLst/>
            <a:gdLst/>
            <a:ahLst/>
            <a:cxnLst/>
            <a:rect l="l" t="t" r="r" b="b"/>
            <a:pathLst>
              <a:path w="114300" h="133502">
                <a:moveTo>
                  <a:pt x="0" y="0"/>
                </a:moveTo>
                <a:lnTo>
                  <a:pt x="114300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8" name="Text 10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로드맵: 2026-2030+ 연차별 추진 계획</a:t>
            </a:r>
            <a:endParaRPr lang="en-US" sz="2400" dirty="0"/>
          </a:p>
        </p:txBody>
      </p:sp>
      <p:sp>
        <p:nvSpPr>
          <p:cNvPr id="19" name="Text 11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통계 메타데이터 구축을 위한 3단계 타임라인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761695" y="1429207"/>
            <a:ext cx="10668305" cy="514807"/>
          </a:xfrm>
          <a:prstGeom prst="roundRect">
            <a:avLst>
              <a:gd name="adj" fmla="val 52628"/>
            </a:avLst>
          </a:prstGeom>
          <a:solidFill>
            <a:srgbClr val="F0F9FF"/>
          </a:solidFill>
          <a:ln/>
        </p:spPr>
      </p:sp>
      <p:sp>
        <p:nvSpPr>
          <p:cNvPr id="21" name="Shape 13"/>
          <p:cNvSpPr/>
          <p:nvPr/>
        </p:nvSpPr>
        <p:spPr>
          <a:xfrm>
            <a:off x="761695" y="1429207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261872" y="1571854"/>
            <a:ext cx="9139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3단계 로드맵: 기반 구축 → 전국 확산 → 글로벌 연계 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990295" y="1619402"/>
            <a:ext cx="133502" cy="15270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400386" y="1580998"/>
            <a:ext cx="847649" cy="237744"/>
          </a:xfrm>
          <a:prstGeom prst="roundRect">
            <a:avLst>
              <a:gd name="adj" fmla="val 38461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0400386" y="1580998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2026-2030+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952805" y="228600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1</a:t>
            </a: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2026-2028: 기반 구축 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952805" y="2762402"/>
            <a:ext cx="2952598" cy="2018995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285646" y="2915107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지표 메타데이터 시범 구축 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1067105" y="3219602"/>
            <a:ext cx="27249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고용, 물가(CPI) 등 핵심 지표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TDO-KR 베타 서비스 개시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GSIM 정합성 확보 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67105" y="2950769"/>
            <a:ext cx="133502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619549" y="228600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2</a:t>
            </a: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2029: 전 </a:t>
            </a:r>
            <a:r>
              <a:rPr lang="ko-KR" altLang="en-US" sz="16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</a:t>
            </a:r>
            <a:r>
              <a:rPr lang="en-US" sz="16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확산 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4619549" y="2762402"/>
            <a:ext cx="2952598" cy="2018995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4952390" y="2915107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 부처 확대 적용 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4733849" y="3219602"/>
            <a:ext cx="27249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전 부처 메타데이터 구축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자동 비교 가능성 판단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챗봇/AI 시스템 연동 </a:t>
            </a:r>
            <a:endParaRPr lang="en-US" sz="11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33849" y="2950769"/>
            <a:ext cx="133502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287207" y="228600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3</a:t>
            </a: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2030+: 글로벌 연계 </a:t>
            </a:r>
            <a:endParaRPr lang="en-US" sz="1600" dirty="0"/>
          </a:p>
        </p:txBody>
      </p:sp>
      <p:sp>
        <p:nvSpPr>
          <p:cNvPr id="37" name="Shape 26"/>
          <p:cNvSpPr/>
          <p:nvPr/>
        </p:nvSpPr>
        <p:spPr>
          <a:xfrm>
            <a:off x="8287207" y="2762402"/>
            <a:ext cx="2952598" cy="2018995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8620049" y="2915107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글로벌 데이터망 연계 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8401507" y="3219602"/>
            <a:ext cx="27249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OECD, UN 등 국제 기관 연계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크로스보더 지식망 완성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글로벌 표준화 참여 </a:t>
            </a:r>
            <a:endParaRPr lang="en-US" sz="11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01507" y="2950769"/>
            <a:ext cx="133502" cy="13350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230782" y="5395874"/>
            <a:ext cx="9228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목표 및 성과 </a:t>
            </a:r>
            <a:endParaRPr lang="en-US" sz="1400" dirty="0"/>
          </a:p>
        </p:txBody>
      </p:sp>
      <p:sp>
        <p:nvSpPr>
          <p:cNvPr id="42" name="Text 30"/>
          <p:cNvSpPr txBox="1"/>
          <p:nvPr/>
        </p:nvSpPr>
        <p:spPr>
          <a:xfrm>
            <a:off x="952805" y="609630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100% 커버리지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3619195" y="609630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부처 연계 완료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6286500" y="609630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표준화 참여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8953805" y="609630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리더십</a:t>
            </a:r>
            <a:endParaRPr lang="en-US" sz="11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805" y="5432450"/>
            <a:ext cx="142646" cy="142646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10450678" y="5400446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10450678" y="5400446"/>
            <a:ext cx="7909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2026-2030+</a:t>
            </a:r>
            <a:endParaRPr lang="en-US" sz="10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2"/>
          <a:srcRect t="-69" b="-69"/>
          <a:stretch/>
        </p:blipFill>
        <p:spPr>
          <a:xfrm>
            <a:off x="1429207" y="5724144"/>
            <a:ext cx="1333195" cy="333756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773022" y="5724144"/>
            <a:ext cx="990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메타데이터 구축 </a:t>
            </a:r>
            <a:endParaRPr lang="en-US" sz="105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3"/>
          <a:srcRect t="-1359" b="-1359"/>
          <a:stretch/>
        </p:blipFill>
        <p:spPr>
          <a:xfrm>
            <a:off x="1585570" y="5835701"/>
            <a:ext cx="105156" cy="123444"/>
          </a:xfrm>
          <a:prstGeom prst="rect">
            <a:avLst/>
          </a:prstGeom>
        </p:spPr>
      </p:pic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3362249" y="5919826"/>
            <a:ext cx="133502" cy="152705"/>
          </a:xfrm>
          <a:prstGeom prst="rect">
            <a:avLst/>
          </a:prstGeom>
        </p:spPr>
      </p:pic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5"/>
          <a:srcRect t="-69" b="-69"/>
          <a:stretch/>
        </p:blipFill>
        <p:spPr>
          <a:xfrm>
            <a:off x="4095598" y="5724144"/>
            <a:ext cx="1333195" cy="333756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4610405" y="5724144"/>
            <a:ext cx="8193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전국 확산 </a:t>
            </a:r>
            <a:endParaRPr lang="en-US" sz="105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6"/>
          <a:srcRect t="-1359" b="-1359"/>
          <a:stretch/>
        </p:blipFill>
        <p:spPr>
          <a:xfrm>
            <a:off x="4423867" y="5835701"/>
            <a:ext cx="105156" cy="123444"/>
          </a:xfrm>
          <a:prstGeom prst="rect">
            <a:avLst/>
          </a:prstGeom>
        </p:spPr>
      </p:pic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7"/>
          <a:srcRect t="-43" b="-43"/>
          <a:stretch/>
        </p:blipFill>
        <p:spPr>
          <a:xfrm>
            <a:off x="6029554" y="5919826"/>
            <a:ext cx="133502" cy="152705"/>
          </a:xfrm>
          <a:prstGeom prst="rect">
            <a:avLst/>
          </a:prstGeom>
        </p:spPr>
      </p:pic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rcRect t="-69" b="-69"/>
          <a:stretch/>
        </p:blipFill>
        <p:spPr>
          <a:xfrm>
            <a:off x="6762902" y="5724144"/>
            <a:ext cx="1333195" cy="33375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7230161" y="5724144"/>
            <a:ext cx="866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글로벌 연계 </a:t>
            </a:r>
            <a:endParaRPr lang="en-US" sz="1050" dirty="0"/>
          </a:p>
        </p:txBody>
      </p:sp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024421" y="5835701"/>
            <a:ext cx="123444" cy="123444"/>
          </a:xfrm>
          <a:prstGeom prst="rect">
            <a:avLst/>
          </a:prstGeom>
        </p:spPr>
      </p:pic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20"/>
          <a:srcRect t="-43" b="-43"/>
          <a:stretch/>
        </p:blipFill>
        <p:spPr>
          <a:xfrm>
            <a:off x="8695944" y="5919826"/>
            <a:ext cx="133502" cy="152705"/>
          </a:xfrm>
          <a:prstGeom prst="rect">
            <a:avLst/>
          </a:prstGeom>
        </p:spPr>
      </p:pic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1"/>
          <a:srcRect t="-69" b="-69"/>
          <a:stretch/>
        </p:blipFill>
        <p:spPr>
          <a:xfrm>
            <a:off x="9430207" y="5724144"/>
            <a:ext cx="1333195" cy="333756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10071202" y="5724144"/>
            <a:ext cx="6931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완성 </a:t>
            </a:r>
            <a:endParaRPr lang="en-US" sz="1050" dirty="0"/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22"/>
          <a:srcRect l="-1358" r="-1358"/>
          <a:stretch/>
        </p:blipFill>
        <p:spPr>
          <a:xfrm>
            <a:off x="9893808" y="5835701"/>
            <a:ext cx="95098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277002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695" y="2190902"/>
            <a:ext cx="10705795" cy="4038905"/>
          </a:xfrm>
          <a:prstGeom prst="roundRect">
            <a:avLst>
              <a:gd name="adj" fmla="val 128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2381098"/>
            <a:ext cx="2895905" cy="2084101"/>
          </a:xfrm>
          <a:prstGeom prst="roundRect">
            <a:avLst>
              <a:gd name="adj" fmla="val 5818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48402" y="2381098"/>
            <a:ext cx="2895905" cy="2084101"/>
          </a:xfrm>
          <a:prstGeom prst="roundRect">
            <a:avLst>
              <a:gd name="adj" fmla="val 5818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0" y="2381098"/>
            <a:ext cx="2133295" cy="2084101"/>
          </a:xfrm>
          <a:prstGeom prst="roundRect">
            <a:avLst>
              <a:gd name="adj" fmla="val 5818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4000500" y="3238805"/>
            <a:ext cx="761695" cy="4571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62195" y="3191255"/>
            <a:ext cx="190195" cy="146781"/>
          </a:xfrm>
          <a:custGeom>
            <a:avLst/>
            <a:gdLst/>
            <a:ahLst/>
            <a:cxnLst/>
            <a:rect l="l" t="t" r="r" b="b"/>
            <a:pathLst>
              <a:path w="190195" h="133502">
                <a:moveTo>
                  <a:pt x="0" y="0"/>
                </a:moveTo>
                <a:lnTo>
                  <a:pt x="190195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8096098" y="3238805"/>
            <a:ext cx="761695" cy="457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858707" y="3191255"/>
            <a:ext cx="190195" cy="146781"/>
          </a:xfrm>
          <a:custGeom>
            <a:avLst/>
            <a:gdLst/>
            <a:ahLst/>
            <a:cxnLst/>
            <a:rect l="l" t="t" r="r" b="b"/>
            <a:pathLst>
              <a:path w="190195" h="133502">
                <a:moveTo>
                  <a:pt x="0" y="0"/>
                </a:moveTo>
                <a:lnTo>
                  <a:pt x="190195" y="66751"/>
                </a:lnTo>
                <a:lnTo>
                  <a:pt x="0" y="13350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요약: 데이터 개방을 넘어 '의미 개방'의 시대로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Data → Open Meaning으로의 패러다임 전환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61695" y="1429207"/>
            <a:ext cx="10668305" cy="533095"/>
          </a:xfrm>
          <a:prstGeom prst="roundRect">
            <a:avLst>
              <a:gd name="adj" fmla="val 49008"/>
            </a:avLst>
          </a:prstGeom>
          <a:solidFill>
            <a:srgbClr val="F0F9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61695" y="1429207"/>
            <a:ext cx="38405" cy="533095"/>
          </a:xfrm>
          <a:prstGeom prst="roundRect">
            <a:avLst>
              <a:gd name="adj" fmla="val 68026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337206" y="1571854"/>
            <a:ext cx="93963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"파일을 엑셀로 다운로드하고 API를 열어주는 1차원적 '데이터 개방(Open Data)'의 시대는 저물고 있습니다" 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2061058" y="1621231"/>
            <a:ext cx="133502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14500" y="2619755"/>
            <a:ext cx="1905610" cy="25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Data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1047902" y="3143706"/>
            <a:ext cx="2667305" cy="1099859"/>
          </a:xfrm>
          <a:prstGeom prst="roundRect">
            <a:avLst>
              <a:gd name="adj" fmla="val 139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361542" y="3238805"/>
            <a:ext cx="2258568" cy="21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1차원적 개방 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3571274"/>
            <a:ext cx="2477110" cy="56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파일 다운로드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API 개방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원시 데이터 제공 </a:t>
            </a:r>
            <a:endParaRPr lang="en-US" sz="10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3274465"/>
            <a:ext cx="133502" cy="14678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810098" y="2619755"/>
            <a:ext cx="1905610" cy="25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Information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5143500" y="3143706"/>
            <a:ext cx="2667305" cy="1099859"/>
          </a:xfrm>
          <a:prstGeom prst="roundRect">
            <a:avLst>
              <a:gd name="adj" fmla="val 139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437937" y="3238805"/>
            <a:ext cx="2277770" cy="21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2차원적 개방 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238598" y="3571274"/>
            <a:ext cx="2477110" cy="56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메타데이터 제공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의미 정보 포함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맥락 설명 </a:t>
            </a:r>
            <a:endParaRPr lang="en-US" sz="10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5238598" y="3274465"/>
            <a:ext cx="114300" cy="14678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05695" y="2670733"/>
            <a:ext cx="1239012" cy="25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Meaning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9239098" y="3143706"/>
            <a:ext cx="1904695" cy="1099859"/>
          </a:xfrm>
          <a:prstGeom prst="roundRect">
            <a:avLst>
              <a:gd name="adj" fmla="val 139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9552737" y="3238805"/>
            <a:ext cx="1495958" cy="21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3차원적 개방 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9334195" y="3571274"/>
            <a:ext cx="1714500" cy="566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의미 개방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 추론 가능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자율 조합 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34195" y="3274465"/>
            <a:ext cx="133502" cy="14678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61695" y="4619549"/>
            <a:ext cx="3429000" cy="1381658"/>
          </a:xfrm>
          <a:prstGeom prst="roundRect">
            <a:avLst>
              <a:gd name="adj" fmla="val 5314"/>
            </a:avLst>
          </a:prstGeom>
          <a:solidFill>
            <a:srgbClr val="F0F9FF"/>
          </a:solidFill>
          <a:ln/>
        </p:spPr>
      </p:sp>
      <p:sp>
        <p:nvSpPr>
          <p:cNvPr id="37" name="Shape 28"/>
          <p:cNvSpPr/>
          <p:nvPr/>
        </p:nvSpPr>
        <p:spPr>
          <a:xfrm>
            <a:off x="761695" y="4619549"/>
            <a:ext cx="38405" cy="1381658"/>
          </a:xfrm>
          <a:prstGeom prst="roundRect">
            <a:avLst>
              <a:gd name="adj" fmla="val 22408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1189634" y="4967375"/>
            <a:ext cx="2858414" cy="16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단위 의미 표준화 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942746" y="5260961"/>
            <a:ext cx="3105302" cy="317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데이터셋이 아닌 개별 '변수' 단위로 의미를 쪼개어 AI가 정확히 해석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381805" y="4619549"/>
            <a:ext cx="3429000" cy="1381658"/>
          </a:xfrm>
          <a:prstGeom prst="roundRect">
            <a:avLst>
              <a:gd name="adj" fmla="val 5314"/>
            </a:avLst>
          </a:prstGeom>
          <a:solidFill>
            <a:srgbClr val="F0FDF4"/>
          </a:solidFill>
          <a:ln/>
        </p:spPr>
      </p:sp>
      <p:sp>
        <p:nvSpPr>
          <p:cNvPr id="41" name="Shape 32"/>
          <p:cNvSpPr/>
          <p:nvPr/>
        </p:nvSpPr>
        <p:spPr>
          <a:xfrm>
            <a:off x="4381805" y="4619549"/>
            <a:ext cx="38405" cy="1381658"/>
          </a:xfrm>
          <a:prstGeom prst="roundRect">
            <a:avLst>
              <a:gd name="adj" fmla="val 224088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4828946" y="4967375"/>
            <a:ext cx="2839212" cy="16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온톨로지 기반 개념망 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4562856" y="5335978"/>
            <a:ext cx="3105302" cy="16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개념 관계망을 </a:t>
            </a: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구축하여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관계를 추론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8001000" y="4619549"/>
            <a:ext cx="3429000" cy="1381658"/>
          </a:xfrm>
          <a:prstGeom prst="roundRect">
            <a:avLst>
              <a:gd name="adj" fmla="val 5314"/>
            </a:avLst>
          </a:prstGeom>
          <a:solidFill>
            <a:srgbClr val="FEF3C7"/>
          </a:solidFill>
          <a:ln/>
        </p:spPr>
      </p:sp>
      <p:sp>
        <p:nvSpPr>
          <p:cNvPr id="45" name="Shape 36"/>
          <p:cNvSpPr/>
          <p:nvPr/>
        </p:nvSpPr>
        <p:spPr>
          <a:xfrm>
            <a:off x="8001000" y="4619549"/>
            <a:ext cx="38405" cy="1381658"/>
          </a:xfrm>
          <a:prstGeom prst="roundRect">
            <a:avLst>
              <a:gd name="adj" fmla="val 22408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8467344" y="4967375"/>
            <a:ext cx="2820010" cy="16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친화적 메타데이터 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8182051" y="5234380"/>
            <a:ext cx="3105302" cy="16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기계가 스스로 읽고 이해할 수 있는 '의미의 지도'</a:t>
            </a:r>
            <a:endParaRPr lang="en-US" sz="11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42746" y="4994579"/>
            <a:ext cx="133502" cy="113903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562856" y="4994579"/>
            <a:ext cx="152705" cy="113903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8182051" y="4994579"/>
            <a:ext cx="171907" cy="113903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1143000" y="2572207"/>
            <a:ext cx="476402" cy="52379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1295705" y="2695650"/>
            <a:ext cx="171907" cy="251339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5238598" y="2572207"/>
            <a:ext cx="476402" cy="52379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362956" y="2695650"/>
            <a:ext cx="228600" cy="251339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9334195" y="2572207"/>
            <a:ext cx="476402" cy="52379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458554" y="2695650"/>
            <a:ext cx="228600" cy="2513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238098"/>
            <a:ext cx="11087100" cy="546719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71500" y="237744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및 마무리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724205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있으신 분들은 편하게 말씀해 주십시오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1695" y="2148875"/>
            <a:ext cx="10668305" cy="2514600"/>
          </a:xfrm>
          <a:prstGeom prst="roundRect">
            <a:avLst>
              <a:gd name="adj" fmla="val 3306"/>
            </a:avLst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7105" y="3100766"/>
            <a:ext cx="10058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친화적 통계 메타데이터는 단순한 기술적 도구가 아닙니다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67105" y="3577168"/>
            <a:ext cx="10058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국민과 국가 데이터가 가장 </a:t>
            </a: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안전하고, 정확하고, 똑똑하게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만날 수 있도록 든든하게 받쳐주는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다리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 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25" r="-225"/>
          <a:stretch/>
        </p:blipFill>
        <p:spPr>
          <a:xfrm>
            <a:off x="4616806" y="4011508"/>
            <a:ext cx="895198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7138" y="4011508"/>
            <a:ext cx="525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신뢰성 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25" r="-225"/>
          <a:stretch/>
        </p:blipFill>
        <p:spPr>
          <a:xfrm>
            <a:off x="5650078" y="4011508"/>
            <a:ext cx="895198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20410" y="4011508"/>
            <a:ext cx="525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정확성 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25" r="-225"/>
          <a:stretch/>
        </p:blipFill>
        <p:spPr>
          <a:xfrm>
            <a:off x="6684264" y="4011508"/>
            <a:ext cx="895198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54596" y="4011508"/>
            <a:ext cx="525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지능성 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10098" y="2453370"/>
            <a:ext cx="571500" cy="45720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68596" y="4123065"/>
            <a:ext cx="133502" cy="133502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02782" y="4123065"/>
            <a:ext cx="133502" cy="13350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36969" y="4123065"/>
            <a:ext cx="133502" cy="133502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761695" y="5810098"/>
            <a:ext cx="10668305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1" name="Text 25"/>
          <p:cNvSpPr txBox="1"/>
          <p:nvPr/>
        </p:nvSpPr>
        <p:spPr>
          <a:xfrm>
            <a:off x="3727094" y="5971946"/>
            <a:ext cx="7541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진정한 AX의 시대를 열어갈 국가데이터처의 여정에 많은 관심 부탁드립니다 </a:t>
            </a:r>
            <a:endParaRPr lang="en-US" sz="12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437230" y="6019495"/>
            <a:ext cx="152705" cy="152705"/>
          </a:xfrm>
          <a:prstGeom prst="rect">
            <a:avLst/>
          </a:prstGeom>
        </p:spPr>
      </p:pic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01761" y="6019495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4117</Words>
  <Application>Microsoft Office PowerPoint</Application>
  <PresentationFormat>와이드스크린</PresentationFormat>
  <Paragraphs>730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user</cp:lastModifiedBy>
  <cp:revision>20</cp:revision>
  <dcterms:created xsi:type="dcterms:W3CDTF">2026-04-21T01:50:11Z</dcterms:created>
  <dcterms:modified xsi:type="dcterms:W3CDTF">2026-04-22T02:07:35Z</dcterms:modified>
</cp:coreProperties>
</file>